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us Jakarta Sans ExtraBold"/>
      <p:bold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Plus Jakarta Sans"/>
      <p:regular r:id="rId25"/>
      <p:bold r:id="rId26"/>
      <p:italic r:id="rId27"/>
      <p:boldItalic r:id="rId28"/>
    </p:embeddedFont>
    <p:embeddedFont>
      <p:font typeface="Inter"/>
      <p:bold r:id="rId29"/>
      <p:boldItalic r:id="rId30"/>
    </p:embeddedFont>
    <p:embeddedFont>
      <p:font typeface="Plus Jakarta Sans Medium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6C04F7-59DB-40DB-B4D1-DC6EE1E6D764}">
  <a:tblStyle styleId="{256C04F7-59DB-40DB-B4D1-DC6EE1E6D7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lusJakartaSans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4.xml"/><Relationship Id="rId33" Type="http://schemas.openxmlformats.org/officeDocument/2006/relationships/font" Target="fonts/PlusJakartaSansMedium-italic.fntdata"/><Relationship Id="rId10" Type="http://schemas.openxmlformats.org/officeDocument/2006/relationships/slide" Target="slides/slide3.xml"/><Relationship Id="rId32" Type="http://schemas.openxmlformats.org/officeDocument/2006/relationships/font" Target="fonts/PlusJakartaSansMedium-bold.fntdata"/><Relationship Id="rId13" Type="http://schemas.openxmlformats.org/officeDocument/2006/relationships/slide" Target="slides/slide6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5.xml"/><Relationship Id="rId34" Type="http://schemas.openxmlformats.org/officeDocument/2006/relationships/font" Target="fonts/PlusJakartaSansMedium-boldItalic.fntdata"/><Relationship Id="rId15" Type="http://schemas.openxmlformats.org/officeDocument/2006/relationships/slide" Target="slides/slide8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7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InterMedium-boldItalic.fntdata"/><Relationship Id="rId19" Type="http://schemas.openxmlformats.org/officeDocument/2006/relationships/font" Target="fonts/PlusJakartaSansExtraBold-bold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aee16b2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8aee16b2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aee16b2b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8aee16b2b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8aee16b2b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f8aee16b2b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aee16b2b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8aee16b2b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aee16b2b_1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f8aee16b2b_1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aee16b2b_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f8aee16b2b_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aee16b2b_1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8aee16b2b_1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4164cdfdb_0_1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f4164cdfdb_0_1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4164cdfdb_0_1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/>
        </p:nvSpPr>
        <p:spPr>
          <a:xfrm>
            <a:off x="762000" y="76200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518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A2D SM</a:t>
            </a:r>
            <a:endParaRPr b="0" sz="518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1665">
                <a:solidFill>
                  <a:srgbClr val="0284C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Sistema de trazabilidad para Socradex</a:t>
            </a:r>
            <a:endParaRPr b="0" sz="1665">
              <a:solidFill>
                <a:srgbClr val="0284C7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s" sz="1203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Desarrollado por A2D Solutions</a:t>
            </a:r>
            <a:endParaRPr b="0" sz="1203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58" name="Google Shape;58;p16"/>
          <p:cNvGrpSpPr/>
          <p:nvPr/>
        </p:nvGrpSpPr>
        <p:grpSpPr>
          <a:xfrm>
            <a:off x="762000" y="2952750"/>
            <a:ext cx="3619500" cy="1428900"/>
            <a:chOff x="0" y="0"/>
            <a:chExt cx="3619500" cy="1428900"/>
          </a:xfrm>
        </p:grpSpPr>
        <p:sp>
          <p:nvSpPr>
            <p:cNvPr id="59" name="Google Shape;59;p16"/>
            <p:cNvSpPr/>
            <p:nvPr/>
          </p:nvSpPr>
          <p:spPr>
            <a:xfrm>
              <a:off x="0" y="0"/>
              <a:ext cx="3619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6"/>
            <p:cNvSpPr/>
            <p:nvPr/>
          </p:nvSpPr>
          <p:spPr>
            <a:xfrm>
              <a:off x="0" y="0"/>
              <a:ext cx="114300" cy="1428900"/>
            </a:xfrm>
            <a:custGeom>
              <a:rect b="b" l="l" r="r" t="t"/>
              <a:pathLst>
                <a:path extrusionOk="0" h="120000" w="120000">
                  <a:moveTo>
                    <a:pt x="0" y="9600"/>
                  </a:moveTo>
                  <a:cubicBezTo>
                    <a:pt x="0" y="4296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5704"/>
                    <a:pt x="0" y="110400"/>
                  </a:cubicBez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6"/>
            <p:cNvSpPr txBox="1"/>
            <p:nvPr/>
          </p:nvSpPr>
          <p:spPr>
            <a:xfrm>
              <a:off x="228600" y="190500"/>
              <a:ext cx="3162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Integrantes del Equipo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Alejandro Rodríguez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Diego Carrillo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Angelo Galindo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2" name="Google Shape;62;p16"/>
          <p:cNvGrpSpPr/>
          <p:nvPr/>
        </p:nvGrpSpPr>
        <p:grpSpPr>
          <a:xfrm>
            <a:off x="4762500" y="2952750"/>
            <a:ext cx="3619500" cy="1428900"/>
            <a:chOff x="0" y="0"/>
            <a:chExt cx="3619500" cy="1428900"/>
          </a:xfrm>
        </p:grpSpPr>
        <p:sp>
          <p:nvSpPr>
            <p:cNvPr id="63" name="Google Shape;63;p16"/>
            <p:cNvSpPr/>
            <p:nvPr/>
          </p:nvSpPr>
          <p:spPr>
            <a:xfrm>
              <a:off x="0" y="0"/>
              <a:ext cx="3619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6"/>
            <p:cNvSpPr/>
            <p:nvPr/>
          </p:nvSpPr>
          <p:spPr>
            <a:xfrm>
              <a:off x="0" y="0"/>
              <a:ext cx="114300" cy="1428900"/>
            </a:xfrm>
            <a:custGeom>
              <a:rect b="b" l="l" r="r" t="t"/>
              <a:pathLst>
                <a:path extrusionOk="0" h="120000" w="120000">
                  <a:moveTo>
                    <a:pt x="0" y="9600"/>
                  </a:moveTo>
                  <a:cubicBezTo>
                    <a:pt x="0" y="4296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5704"/>
                    <a:pt x="0" y="110400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6"/>
            <p:cNvSpPr txBox="1"/>
            <p:nvPr/>
          </p:nvSpPr>
          <p:spPr>
            <a:xfrm>
              <a:off x="228600" y="190500"/>
              <a:ext cx="3162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Escuela &amp; Carrera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Informática y Telecomunicaciones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lang="e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Ingeniería en Informática</a:t>
              </a:r>
              <a:endParaRPr b="0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s" sz="39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y Descripción</a:t>
            </a:r>
            <a:endParaRPr/>
          </a:p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" sz="165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Problemática operativa real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Descripción y Relevancia Laboral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" name="Google Shape;77;p18"/>
          <p:cNvSpPr txBox="1"/>
          <p:nvPr/>
        </p:nvSpPr>
        <p:spPr>
          <a:xfrm>
            <a:off x="476250" y="952500"/>
            <a:ext cx="3905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Modernización sin alteración de la producción</a:t>
            </a:r>
            <a:endParaRPr b="0" sz="1200">
              <a:solidFill>
                <a:srgbClr val="0284C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8" name="Google Shape;78;p18"/>
          <p:cNvGrpSpPr/>
          <p:nvPr/>
        </p:nvGrpSpPr>
        <p:grpSpPr>
          <a:xfrm>
            <a:off x="476250" y="1333500"/>
            <a:ext cx="3905400" cy="1047900"/>
            <a:chOff x="0" y="0"/>
            <a:chExt cx="3905400" cy="1047900"/>
          </a:xfrm>
        </p:grpSpPr>
        <p:sp>
          <p:nvSpPr>
            <p:cNvPr id="79" name="Google Shape;79;p18"/>
            <p:cNvSpPr/>
            <p:nvPr/>
          </p:nvSpPr>
          <p:spPr>
            <a:xfrm>
              <a:off x="0" y="0"/>
              <a:ext cx="39054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8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8"/>
            <p:cNvSpPr txBox="1"/>
            <p:nvPr/>
          </p:nvSpPr>
          <p:spPr>
            <a:xfrm>
              <a:off x="190500" y="95250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Cliente Socradex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Empresa procesadora de fruta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Alto flujo de trabajo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Sistema con software no actualizado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8"/>
          <p:cNvGrpSpPr/>
          <p:nvPr/>
        </p:nvGrpSpPr>
        <p:grpSpPr>
          <a:xfrm>
            <a:off x="476250" y="2524125"/>
            <a:ext cx="3905400" cy="904800"/>
            <a:chOff x="0" y="0"/>
            <a:chExt cx="3905400" cy="904800"/>
          </a:xfrm>
        </p:grpSpPr>
        <p:sp>
          <p:nvSpPr>
            <p:cNvPr id="83" name="Google Shape;83;p18"/>
            <p:cNvSpPr/>
            <p:nvPr/>
          </p:nvSpPr>
          <p:spPr>
            <a:xfrm>
              <a:off x="0" y="0"/>
              <a:ext cx="39054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8"/>
            <p:cNvSpPr/>
            <p:nvPr/>
          </p:nvSpPr>
          <p:spPr>
            <a:xfrm>
              <a:off x="0" y="0"/>
              <a:ext cx="57300" cy="9048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8"/>
            <p:cNvSpPr txBox="1"/>
            <p:nvPr/>
          </p:nvSpPr>
          <p:spPr>
            <a:xfrm>
              <a:off x="190500" y="9525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Sistema A2D SM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desarrollará 100% en paralelo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Suplirá deficiencias de seguridad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8"/>
          <p:cNvGrpSpPr/>
          <p:nvPr/>
        </p:nvGrpSpPr>
        <p:grpSpPr>
          <a:xfrm>
            <a:off x="476250" y="3619500"/>
            <a:ext cx="8191500" cy="1047900"/>
            <a:chOff x="0" y="0"/>
            <a:chExt cx="8191500" cy="1047900"/>
          </a:xfrm>
        </p:grpSpPr>
        <p:sp>
          <p:nvSpPr>
            <p:cNvPr id="87" name="Google Shape;87;p18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 txBox="1"/>
            <p:nvPr/>
          </p:nvSpPr>
          <p:spPr>
            <a:xfrm>
              <a:off x="190500" y="114300"/>
              <a:ext cx="78105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Relevancia profesional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Nos enfrenta a un escenario altamente común en la industria chilena, como lo es la modernización de un sistema de negocios, sin detener la producción de la empresa y tener que saber cumplir con los tiempos de entrega y las posibles eventualidades.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2" y="1046875"/>
            <a:ext cx="4021800" cy="223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Nuestro enfoque como ingenieros informáticos: 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6" name="Google Shape;96;p19"/>
          <p:cNvGrpSpPr/>
          <p:nvPr/>
        </p:nvGrpSpPr>
        <p:grpSpPr>
          <a:xfrm>
            <a:off x="381000" y="1238250"/>
            <a:ext cx="1952700" cy="3238500"/>
            <a:chOff x="0" y="0"/>
            <a:chExt cx="1952700" cy="3238500"/>
          </a:xfrm>
        </p:grpSpPr>
        <p:sp>
          <p:nvSpPr>
            <p:cNvPr id="97" name="Google Shape;97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Gestión de Proyectos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Identificación de Épicas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Organización Prioridad con Poker planning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Definición del PMV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Metodología</a:t>
              </a: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 trabajo Scrum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" name="Google Shape;100;p19"/>
          <p:cNvGrpSpPr/>
          <p:nvPr/>
        </p:nvGrpSpPr>
        <p:grpSpPr>
          <a:xfrm>
            <a:off x="2524125" y="1238250"/>
            <a:ext cx="1952700" cy="3238500"/>
            <a:chOff x="0" y="0"/>
            <a:chExt cx="1952700" cy="3238500"/>
          </a:xfrm>
        </p:grpSpPr>
        <p:sp>
          <p:nvSpPr>
            <p:cNvPr id="101" name="Google Shape;101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Modelamiento de Datos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Diseño de modelo relacional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Convive con tablas heredadas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9"/>
          <p:cNvGrpSpPr/>
          <p:nvPr/>
        </p:nvGrpSpPr>
        <p:grpSpPr>
          <a:xfrm>
            <a:off x="4667250" y="1238250"/>
            <a:ext cx="1952700" cy="3238500"/>
            <a:chOff x="0" y="0"/>
            <a:chExt cx="1952700" cy="3238500"/>
          </a:xfrm>
        </p:grpSpPr>
        <p:sp>
          <p:nvSpPr>
            <p:cNvPr id="105" name="Google Shape;105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9"/>
            <p:cNvSpPr txBox="1"/>
            <p:nvPr/>
          </p:nvSpPr>
          <p:spPr>
            <a:xfrm>
              <a:off x="190500" y="723900"/>
              <a:ext cx="15717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Desarrollo de Software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Arquitectura en capas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Asegurar mantenibilidad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Mejor seguridad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19"/>
          <p:cNvGrpSpPr/>
          <p:nvPr/>
        </p:nvGrpSpPr>
        <p:grpSpPr>
          <a:xfrm>
            <a:off x="6810375" y="1238250"/>
            <a:ext cx="1952700" cy="3238500"/>
            <a:chOff x="0" y="0"/>
            <a:chExt cx="1952700" cy="3238500"/>
          </a:xfrm>
        </p:grpSpPr>
        <p:sp>
          <p:nvSpPr>
            <p:cNvPr id="109" name="Google Shape;109;p19"/>
            <p:cNvSpPr/>
            <p:nvPr/>
          </p:nvSpPr>
          <p:spPr>
            <a:xfrm>
              <a:off x="0" y="0"/>
              <a:ext cx="1952700" cy="3238500"/>
            </a:xfrm>
            <a:prstGeom prst="roundRect">
              <a:avLst>
                <a:gd fmla="val 390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0" y="0"/>
              <a:ext cx="477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9"/>
            <p:cNvSpPr txBox="1"/>
            <p:nvPr/>
          </p:nvSpPr>
          <p:spPr>
            <a:xfrm>
              <a:off x="119275" y="723900"/>
              <a:ext cx="1764000" cy="23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Pruebas y Calidad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lang="es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Diseño de pruebas funcionales y no funcionales para certificar la seguridad y funcionalidad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image.png" id="112" name="Google Shape;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175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6425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4650" y="1392717"/>
            <a:ext cx="459600" cy="45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0078" y="15143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9550" y="132542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3050" y="15143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0725" y="14683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72425" y="146831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0"/>
          <p:cNvGrpSpPr/>
          <p:nvPr/>
        </p:nvGrpSpPr>
        <p:grpSpPr>
          <a:xfrm>
            <a:off x="476250" y="381000"/>
            <a:ext cx="8191500" cy="571500"/>
            <a:chOff x="0" y="0"/>
            <a:chExt cx="8191500" cy="571500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Objetivos del Proyecto</a:t>
              </a:r>
              <a:endParaRPr b="1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27" name="Google Shape;127;p20"/>
          <p:cNvGrpSpPr/>
          <p:nvPr/>
        </p:nvGrpSpPr>
        <p:grpSpPr>
          <a:xfrm>
            <a:off x="476250" y="1238250"/>
            <a:ext cx="3905400" cy="3238500"/>
            <a:chOff x="0" y="0"/>
            <a:chExt cx="3905400" cy="3238500"/>
          </a:xfrm>
        </p:grpSpPr>
        <p:sp>
          <p:nvSpPr>
            <p:cNvPr id="128" name="Google Shape;128;p20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 txBox="1"/>
            <p:nvPr/>
          </p:nvSpPr>
          <p:spPr>
            <a:xfrm>
              <a:off x="238125" y="23812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Objetivo General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Desarrollar e implementar el sistema A2D SM en arquitectura de 3 capas </a:t>
              </a:r>
              <a:r>
                <a:rPr b="0" i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(React - FastAPI - Base de datos)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Seguir normativas ISO 9000 y PMI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Eliminar vulnerabilidades del sistema anterior.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" name="Google Shape;131;p20"/>
          <p:cNvGrpSpPr/>
          <p:nvPr/>
        </p:nvGrpSpPr>
        <p:grpSpPr>
          <a:xfrm>
            <a:off x="4762500" y="1238250"/>
            <a:ext cx="3905400" cy="3238500"/>
            <a:chOff x="0" y="0"/>
            <a:chExt cx="3905400" cy="3238500"/>
          </a:xfrm>
        </p:grpSpPr>
        <p:sp>
          <p:nvSpPr>
            <p:cNvPr id="132" name="Google Shape;132;p20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0"/>
            <p:cNvSpPr txBox="1"/>
            <p:nvPr/>
          </p:nvSpPr>
          <p:spPr>
            <a:xfrm>
              <a:off x="238125" y="23812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Objetivos Específicos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Diseñar un modelo de datos relacional normalizado.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Implementar un módulo de autenticación y control de acceso basado en roles (RBAC) para restringir el acceso a las funciones operativas del sistema.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262750" y="1999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9772"/>
              <a:buFont typeface="Arial"/>
              <a:buNone/>
            </a:pPr>
            <a:r>
              <a:rPr b="1" lang="es" sz="39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 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1839100" y="2893225"/>
            <a:ext cx="53679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rPr b="0" i="0" lang="es" sz="1650" u="none" cap="none" strike="noStrik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Estrategia técnica, factibilidad y plan de trabajo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476250" y="38100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46" name="Google Shape;146;p22"/>
          <p:cNvGrpSpPr/>
          <p:nvPr/>
        </p:nvGrpSpPr>
        <p:grpSpPr>
          <a:xfrm>
            <a:off x="476250" y="1238250"/>
            <a:ext cx="3905400" cy="3238500"/>
            <a:chOff x="0" y="0"/>
            <a:chExt cx="3905400" cy="3238500"/>
          </a:xfrm>
        </p:grpSpPr>
        <p:sp>
          <p:nvSpPr>
            <p:cNvPr id="147" name="Google Shape;147;p22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2"/>
            <p:cNvSpPr txBox="1"/>
            <p:nvPr/>
          </p:nvSpPr>
          <p:spPr>
            <a:xfrm>
              <a:off x="238125" y="23812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Metodología de Desarrollo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utilizará una metodología ágil </a:t>
              </a: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Scrum</a:t>
              </a: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y </a:t>
              </a: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Poker Planning</a:t>
              </a:r>
              <a:r>
                <a:rPr b="0"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para el dimensionamiento y estimación de esfuerzo en Story Points (SP).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Motivo:</a:t>
              </a:r>
              <a:endParaRPr b="1" sz="1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Permite revisiones periódicas de cumplimientos realizados.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Facilidad de adaptación según avances.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Permite reorganizar recursos y esfuerzos según niveles de complejidad.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Las entregas se agruparán en Sprints semanales.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50" name="Google Shape;150;p22" title="scrum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7100" y="1761075"/>
            <a:ext cx="3383001" cy="193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3"/>
          <p:cNvGrpSpPr/>
          <p:nvPr/>
        </p:nvGrpSpPr>
        <p:grpSpPr>
          <a:xfrm>
            <a:off x="476250" y="381000"/>
            <a:ext cx="8191500" cy="571500"/>
            <a:chOff x="0" y="0"/>
            <a:chExt cx="8191500" cy="571500"/>
          </a:xfrm>
        </p:grpSpPr>
        <p:sp>
          <p:nvSpPr>
            <p:cNvPr id="156" name="Google Shape;156;p23"/>
            <p:cNvSpPr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Factibilidad del proyecto</a:t>
              </a:r>
              <a:endParaRPr b="1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476250" y="1238250"/>
            <a:ext cx="3905400" cy="3333900"/>
            <a:chOff x="0" y="0"/>
            <a:chExt cx="3905400" cy="3333900"/>
          </a:xfrm>
        </p:grpSpPr>
        <p:sp>
          <p:nvSpPr>
            <p:cNvPr id="159" name="Google Shape;159;p23"/>
            <p:cNvSpPr/>
            <p:nvPr/>
          </p:nvSpPr>
          <p:spPr>
            <a:xfrm>
              <a:off x="0" y="0"/>
              <a:ext cx="3905400" cy="3333900"/>
            </a:xfrm>
            <a:prstGeom prst="roundRect">
              <a:avLst>
                <a:gd fmla="val 2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0" y="0"/>
              <a:ext cx="57300" cy="3333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 txBox="1"/>
            <p:nvPr/>
          </p:nvSpPr>
          <p:spPr>
            <a:xfrm>
              <a:off x="238125" y="238125"/>
              <a:ext cx="342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Viabilidad</a:t>
              </a:r>
              <a:endParaRPr b="1" sz="1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Alcance Acotado: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PMV estrictamente delimitado a épicas principales.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Dominio Tecnológico: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Familiaridad previa del equipo en Python, desarrollo web y lenguaje SQL.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Recursos Disponibles: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Equipos propios, repositorio GitHub activo y entornos configurados.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Horas/Semestre: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Planificado para ejecutarse entre las semanas 5 y 14 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23"/>
          <p:cNvGrpSpPr/>
          <p:nvPr/>
        </p:nvGrpSpPr>
        <p:grpSpPr>
          <a:xfrm>
            <a:off x="4762500" y="1238250"/>
            <a:ext cx="3905400" cy="3333900"/>
            <a:chOff x="0" y="0"/>
            <a:chExt cx="3905400" cy="3333900"/>
          </a:xfrm>
        </p:grpSpPr>
        <p:sp>
          <p:nvSpPr>
            <p:cNvPr id="163" name="Google Shape;163;p23"/>
            <p:cNvSpPr/>
            <p:nvPr/>
          </p:nvSpPr>
          <p:spPr>
            <a:xfrm>
              <a:off x="0" y="0"/>
              <a:ext cx="3905400" cy="3333900"/>
            </a:xfrm>
            <a:prstGeom prst="roundRect">
              <a:avLst>
                <a:gd fmla="val 2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0" y="0"/>
              <a:ext cx="57300" cy="3333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 txBox="1"/>
            <p:nvPr/>
          </p:nvSpPr>
          <p:spPr>
            <a:xfrm>
              <a:off x="238125" y="238125"/>
              <a:ext cx="3429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Factores de Riesgo</a:t>
              </a:r>
              <a:endParaRPr b="1" sz="1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Complejidad del modelo de datos anterior: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mitiga priorizando el </a:t>
              </a:r>
              <a:r>
                <a:rPr b="1" lang="es" sz="11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Producto Mínimo Viable (PMV)</a:t>
              </a: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enfocado en recepción, proceso y auditoría.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Esto evita retrasos antes de la implementación de módulos secundarios.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 </a:t>
            </a:r>
            <a:endParaRPr/>
          </a:p>
        </p:txBody>
      </p:sp>
      <p:graphicFrame>
        <p:nvGraphicFramePr>
          <p:cNvPr id="171" name="Google Shape;171;p24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{256C04F7-59DB-40DB-B4D1-DC6EE1E6D764}</a:tableStyleId>
              </a:tblPr>
              <a:tblGrid>
                <a:gridCol w="2556175"/>
                <a:gridCol w="1022475"/>
                <a:gridCol w="1363300"/>
                <a:gridCol w="35786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Actividad / Épica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Duración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Responsable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Detalle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Definición del Proyecto APT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Todo el equipo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Alcance, épicas, objetivos y plan de trabajo (Fase 1).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Modelo ER y arquitectura base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Diego Carrillo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Modelo entidad-relación sobre tablas legado y estructura del repo.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E1: Autenticación y RBAC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Diego Carrillo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Login y control de acceso por rol (Operador / Administrador).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E2: Ma</a:t>
                      </a:r>
                      <a:r>
                        <a:rPr b="1" lang="es" sz="8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ntenedor </a:t>
                      </a: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core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Angelo Galindo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CRUD de productores y catálogos (especie, variedad, calidad, bandeja).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E3: Recepción de tarjas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Alejandro Rodríguez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Numeración automática, cálculo de kilos, stock de bandejas e impresión.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Épica E4: Procesamiento y auditoría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Angelo Galindo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Edición posterior a impresión con bitácora de auditoría.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Pruebas de certificación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Alejandro Rodríguez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Pruebas funcionales y no funcionales de los 4 módulos.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Cierre y entrega final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semanas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Todo el equipo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8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Documentación técnica, manual de usuario, informe y presentación final.</a:t>
                      </a:r>
                      <a:endParaRPr/>
                    </a:p>
                  </a:txBody>
                  <a:tcPr marT="18000" marB="18000" marR="45700" marL="45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476250" y="38100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Evidencias del Proyecto</a:t>
            </a:r>
            <a:endParaRPr b="1" sz="26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476250" y="904875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siguientes evidencias permitirán dar cuenta del logro de las actividades del Proyecto APT: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8" name="Google Shape;178;p25"/>
          <p:cNvGrpSpPr/>
          <p:nvPr/>
        </p:nvGrpSpPr>
        <p:grpSpPr>
          <a:xfrm>
            <a:off x="476250" y="1381125"/>
            <a:ext cx="3905400" cy="3048000"/>
            <a:chOff x="0" y="0"/>
            <a:chExt cx="3905400" cy="3048000"/>
          </a:xfrm>
        </p:grpSpPr>
        <p:sp>
          <p:nvSpPr>
            <p:cNvPr id="179" name="Google Shape;179;p25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5"/>
            <p:cNvSpPr txBox="1"/>
            <p:nvPr/>
          </p:nvSpPr>
          <p:spPr>
            <a:xfrm>
              <a:off x="238125" y="238125"/>
              <a:ext cx="3429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Planificación y Requisitos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Definición de Épicas: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Documento de definición con sus respectivos criterios de aceptación.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Poker Planning: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Estimación y dimensionamiento del esfuerzo de desarrollo.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Preguntas de Negocio: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Registro de consultas abiertas con Socradex.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25"/>
          <p:cNvGrpSpPr/>
          <p:nvPr/>
        </p:nvGrpSpPr>
        <p:grpSpPr>
          <a:xfrm>
            <a:off x="4762500" y="1381125"/>
            <a:ext cx="3905400" cy="3048000"/>
            <a:chOff x="0" y="0"/>
            <a:chExt cx="3905400" cy="3048000"/>
          </a:xfrm>
        </p:grpSpPr>
        <p:sp>
          <p:nvSpPr>
            <p:cNvPr id="183" name="Google Shape;183;p25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5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5"/>
            <p:cNvSpPr txBox="1"/>
            <p:nvPr/>
          </p:nvSpPr>
          <p:spPr>
            <a:xfrm>
              <a:off x="238125" y="238125"/>
              <a:ext cx="3429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Desarrollo y Entregables</a:t>
              </a:r>
              <a:endParaRPr b="1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Repositorio en GitHub: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Control de versiones y código fuente del proyecto.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Modelo Entidad-Relación: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Estructura y diseño de la base de datos.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b="1" lang="es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Módulos Funcionales:</a:t>
              </a:r>
              <a:r>
                <a:rPr b="0" lang="e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Implementación del Producto Mínimo Viable (PMV).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/>
          <p:nvPr/>
        </p:nvSpPr>
        <p:spPr>
          <a:xfrm>
            <a:off x="2880600" y="0"/>
            <a:ext cx="6263400" cy="5173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rgbClr val="4A86E8"/>
              </a:solidFill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0" y="0"/>
            <a:ext cx="2880600" cy="5173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1843715" y="2331292"/>
            <a:ext cx="582900" cy="582900"/>
          </a:xfrm>
          <a:prstGeom prst="ellipse">
            <a:avLst/>
          </a:prstGeom>
          <a:solidFill>
            <a:srgbClr val="F2A7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3125546" y="1802550"/>
            <a:ext cx="195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1785569" y="2451295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F9F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A2D_SM — Sistema de Trazabilidad para Planta Procesadora de Fruta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73550" y="4100100"/>
            <a:ext cx="2550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Alejandro Rodríguez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Diego Carrillo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b="0" i="0" lang="e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Angelo Galindo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duoc.cl/normasgraficas/normasgraficas/marca-duoc/6logo-fondo-transparente/fondo-transparente.png"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6525" y="205225"/>
            <a:ext cx="20002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