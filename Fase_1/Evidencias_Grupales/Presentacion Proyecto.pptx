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lus Jakarta Sans ExtraBold"/>
      <p:bold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  <p:embeddedFont>
      <p:font typeface="Inter"/>
      <p:bold r:id="rId27"/>
      <p:boldItalic r:id="rId28"/>
    </p:embeddedFont>
    <p:embeddedFont>
      <p:font typeface="Plus Jakarta Sans Medium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4C55EB-C00C-436C-B54D-D93FEA5C7B58}">
  <a:tblStyle styleId="{EB4C55EB-C00C-436C-B54D-D93FEA5C7B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Medium-italic.fntdata"/><Relationship Id="rId30" Type="http://schemas.openxmlformats.org/officeDocument/2006/relationships/font" Target="fonts/PlusJakartaSansMedium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32" Type="http://schemas.openxmlformats.org/officeDocument/2006/relationships/font" Target="fonts/PlusJakartaSans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Medium-boldItalic.fntdata"/><Relationship Id="rId17" Type="http://schemas.openxmlformats.org/officeDocument/2006/relationships/font" Target="fonts/PlusJakartaSansExtraBold-bold.fntdata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aee16b2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f8aee16b2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aee16b2b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8aee16b2b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aee16b2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8aee16b2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aee16b2b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8aee16b2b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8aee16b2b_1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8aee16b2b_1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aee16b2b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8aee16b2b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8aee16b2b_1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8aee16b2b_1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762000" y="7620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518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A2D SM</a:t>
            </a:r>
            <a:endParaRPr b="0" sz="518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1665">
                <a:solidFill>
                  <a:srgbClr val="0284C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Sistema de trazabilidad para Socradex</a:t>
            </a:r>
            <a:endParaRPr b="0" sz="1665">
              <a:solidFill>
                <a:srgbClr val="0284C7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s" sz="1203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Desarrollado por A2D Solutions</a:t>
            </a:r>
            <a:endParaRPr b="0" sz="1203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762000" y="2952750"/>
            <a:ext cx="3619500" cy="1428900"/>
            <a:chOff x="0" y="0"/>
            <a:chExt cx="3619500" cy="14289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0"/>
              <a:ext cx="114300" cy="14289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cubicBezTo>
                    <a:pt x="0" y="4296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5704"/>
                    <a:pt x="0" y="110400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228600" y="190500"/>
              <a:ext cx="31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Integrantes del Equipo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Alejandro Rodríguez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Diego Carrillo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Angelo Galindo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4762500" y="2952750"/>
            <a:ext cx="3619500" cy="1428900"/>
            <a:chOff x="0" y="0"/>
            <a:chExt cx="3619500" cy="14289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0" y="0"/>
              <a:ext cx="114300" cy="14289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cubicBezTo>
                    <a:pt x="0" y="4296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5704"/>
                    <a:pt x="0" y="110400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228600" y="190500"/>
              <a:ext cx="31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Escuela &amp; Carrera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Informática y Telecomunicaciones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Ingeniería en Informática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s" sz="39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y Descripción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" sz="165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Problemática operativa real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y Relevancia Laboral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76250" y="952500"/>
            <a:ext cx="3905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Modernización sin alteración de la producción</a:t>
            </a:r>
            <a:endParaRPr b="0" sz="1200">
              <a:solidFill>
                <a:srgbClr val="0284C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6" name="Google Shape;76;p16"/>
          <p:cNvGrpSpPr/>
          <p:nvPr/>
        </p:nvGrpSpPr>
        <p:grpSpPr>
          <a:xfrm>
            <a:off x="476250" y="1333500"/>
            <a:ext cx="3905400" cy="1047900"/>
            <a:chOff x="0" y="0"/>
            <a:chExt cx="3905400" cy="1047900"/>
          </a:xfrm>
        </p:grpSpPr>
        <p:sp>
          <p:nvSpPr>
            <p:cNvPr id="77" name="Google Shape;77;p16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 txBox="1"/>
            <p:nvPr/>
          </p:nvSpPr>
          <p:spPr>
            <a:xfrm>
              <a:off x="190500" y="9525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Cliente Socradex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Empresa procesadora de fruta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Alto flujo de trabajo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Sistema con software no actualizado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0" name="Google Shape;80;p16"/>
          <p:cNvGrpSpPr/>
          <p:nvPr/>
        </p:nvGrpSpPr>
        <p:grpSpPr>
          <a:xfrm>
            <a:off x="476250" y="2524125"/>
            <a:ext cx="3905400" cy="904800"/>
            <a:chOff x="0" y="0"/>
            <a:chExt cx="3905400" cy="904800"/>
          </a:xfrm>
        </p:grpSpPr>
        <p:sp>
          <p:nvSpPr>
            <p:cNvPr id="81" name="Google Shape;81;p16"/>
            <p:cNvSpPr/>
            <p:nvPr/>
          </p:nvSpPr>
          <p:spPr>
            <a:xfrm>
              <a:off x="0" y="0"/>
              <a:ext cx="39054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0" y="0"/>
              <a:ext cx="57300" cy="9048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190500" y="9525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Sistema A2D SM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desarrollará 100% en paralelo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Suplirá deficiencias de seguridad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p16"/>
          <p:cNvGrpSpPr/>
          <p:nvPr/>
        </p:nvGrpSpPr>
        <p:grpSpPr>
          <a:xfrm>
            <a:off x="476250" y="3619500"/>
            <a:ext cx="8191500" cy="1047900"/>
            <a:chOff x="0" y="0"/>
            <a:chExt cx="8191500" cy="1047900"/>
          </a:xfrm>
        </p:grpSpPr>
        <p:sp>
          <p:nvSpPr>
            <p:cNvPr id="85" name="Google Shape;85;p16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190500" y="114300"/>
              <a:ext cx="78105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Relevancia profesional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Nos enfrenta a un escenario altamente común en la industria chilena, como lo es la modernización de un sistema de negocios, sin detener la producción de la empresa y tener que saber cumplir con los tiempos de entrega y las posibles eventualidades.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2" y="1046875"/>
            <a:ext cx="4021651" cy="22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Relación con el Perfil de Egreso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4" name="Google Shape;94;p17"/>
          <p:cNvGrpSpPr/>
          <p:nvPr/>
        </p:nvGrpSpPr>
        <p:grpSpPr>
          <a:xfrm>
            <a:off x="381000" y="1238250"/>
            <a:ext cx="1952700" cy="3238500"/>
            <a:chOff x="0" y="0"/>
            <a:chExt cx="1952700" cy="3238500"/>
          </a:xfrm>
        </p:grpSpPr>
        <p:sp>
          <p:nvSpPr>
            <p:cNvPr id="95" name="Google Shape;95;p17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Gestión de Proyectos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Identificación de Épicas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Organización Prioridad con Poker planning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Definición del PMV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Distribución iterativa por semana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7"/>
          <p:cNvGrpSpPr/>
          <p:nvPr/>
        </p:nvGrpSpPr>
        <p:grpSpPr>
          <a:xfrm>
            <a:off x="2524125" y="1238250"/>
            <a:ext cx="1952700" cy="3238500"/>
            <a:chOff x="0" y="0"/>
            <a:chExt cx="1952700" cy="3238500"/>
          </a:xfrm>
        </p:grpSpPr>
        <p:sp>
          <p:nvSpPr>
            <p:cNvPr id="99" name="Google Shape;99;p17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Modelamiento de Datos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Diseño de modelo relacional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Convive con tablas heredadas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7"/>
          <p:cNvGrpSpPr/>
          <p:nvPr/>
        </p:nvGrpSpPr>
        <p:grpSpPr>
          <a:xfrm>
            <a:off x="4667250" y="1238250"/>
            <a:ext cx="1952700" cy="3238500"/>
            <a:chOff x="0" y="0"/>
            <a:chExt cx="1952700" cy="3238500"/>
          </a:xfrm>
        </p:grpSpPr>
        <p:sp>
          <p:nvSpPr>
            <p:cNvPr id="103" name="Google Shape;103;p17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Desarrollo de Software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Arquitectura en capas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Asegurar mantenibilidad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Mejor seguridad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7"/>
          <p:cNvGrpSpPr/>
          <p:nvPr/>
        </p:nvGrpSpPr>
        <p:grpSpPr>
          <a:xfrm>
            <a:off x="6810375" y="1238250"/>
            <a:ext cx="1952700" cy="3238500"/>
            <a:chOff x="0" y="0"/>
            <a:chExt cx="1952700" cy="3238500"/>
          </a:xfrm>
        </p:grpSpPr>
        <p:sp>
          <p:nvSpPr>
            <p:cNvPr id="107" name="Google Shape;107;p17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Pruebas y Calidad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Diseño de pruebas funcionales y no funcionales para certificar la seguridad y funcionalidad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.png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7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642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4650" y="1392717"/>
            <a:ext cx="459600" cy="45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0078" y="15143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550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3050" y="15143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0725" y="14683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2425" y="146831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8"/>
          <p:cNvGrpSpPr/>
          <p:nvPr/>
        </p:nvGrpSpPr>
        <p:grpSpPr>
          <a:xfrm>
            <a:off x="476250" y="381000"/>
            <a:ext cx="8191500" cy="571500"/>
            <a:chOff x="0" y="0"/>
            <a:chExt cx="8191500" cy="571500"/>
          </a:xfrm>
        </p:grpSpPr>
        <p:sp>
          <p:nvSpPr>
            <p:cNvPr id="123" name="Google Shape;123;p18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Objetivos del Proyecto</a:t>
              </a:r>
              <a:endParaRPr b="1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476250" y="1238250"/>
            <a:ext cx="3905400" cy="3238500"/>
            <a:chOff x="0" y="0"/>
            <a:chExt cx="3905400" cy="3238500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Objetivo General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Desarrollar e implementar el sistema A2D SM en arquitectura de 3 capas </a:t>
              </a:r>
              <a:r>
                <a:rPr b="0" i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(React - FastAPI - Base de datos)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Seguir normativas ISO 9000 y PMI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Eliminar vulnerabilidades del sistema anterior.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p18"/>
          <p:cNvGrpSpPr/>
          <p:nvPr/>
        </p:nvGrpSpPr>
        <p:grpSpPr>
          <a:xfrm>
            <a:off x="4762500" y="1238250"/>
            <a:ext cx="3905400" cy="3238500"/>
            <a:chOff x="0" y="0"/>
            <a:chExt cx="3905400" cy="3238500"/>
          </a:xfrm>
        </p:grpSpPr>
        <p:sp>
          <p:nvSpPr>
            <p:cNvPr id="130" name="Google Shape;130;p18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Objetivos Específicos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Diseñar un modelo de datos relacional normalizado.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Implementar un módulo de autenticación y control de acceso basado en roles (RBAC) para restringir el acceso a las funciones operativas del sistema.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262750" y="1999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772"/>
              <a:buFont typeface="Arial"/>
              <a:buNone/>
            </a:pPr>
            <a:r>
              <a:rPr b="1" lang="es" sz="39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1839100" y="2893225"/>
            <a:ext cx="53679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Estrategia técnica, factibilidad y plan de trabajo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476250" y="3810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476250" y="1238250"/>
            <a:ext cx="3905400" cy="3238500"/>
            <a:chOff x="0" y="0"/>
            <a:chExt cx="3905400" cy="3238500"/>
          </a:xfrm>
        </p:grpSpPr>
        <p:sp>
          <p:nvSpPr>
            <p:cNvPr id="145" name="Google Shape;145;p20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Metodología de Desarrollo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utilizará una metodología ágil </a:t>
              </a: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Scrum</a:t>
              </a: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 </a:t>
              </a: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Poker Planning</a:t>
              </a: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para el dimensionamiento y estimación de esfuerzo en Story Points (SP).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Motivo:</a:t>
              </a:r>
              <a:endParaRPr b="1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Permite revisiones periódicas de cumplimientos realizados.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Facilidad de adaptación según avances.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Permite reorganizar recursos y esfuerzos según niveles de complejidad.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Las entregas se agruparán en Sprints semanales.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48" name="Google Shape;148;p20" title="scru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7100" y="1761075"/>
            <a:ext cx="3383001" cy="19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1"/>
          <p:cNvGrpSpPr/>
          <p:nvPr/>
        </p:nvGrpSpPr>
        <p:grpSpPr>
          <a:xfrm>
            <a:off x="476250" y="381000"/>
            <a:ext cx="8191500" cy="571500"/>
            <a:chOff x="0" y="0"/>
            <a:chExt cx="8191500" cy="571500"/>
          </a:xfrm>
        </p:grpSpPr>
        <p:sp>
          <p:nvSpPr>
            <p:cNvPr id="154" name="Google Shape;154;p21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Factibilidad del proyecto</a:t>
              </a:r>
              <a:endParaRPr b="1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56" name="Google Shape;156;p21"/>
          <p:cNvGrpSpPr/>
          <p:nvPr/>
        </p:nvGrpSpPr>
        <p:grpSpPr>
          <a:xfrm>
            <a:off x="476250" y="1238250"/>
            <a:ext cx="3905400" cy="3333900"/>
            <a:chOff x="0" y="0"/>
            <a:chExt cx="3905400" cy="3333900"/>
          </a:xfrm>
        </p:grpSpPr>
        <p:sp>
          <p:nvSpPr>
            <p:cNvPr id="157" name="Google Shape;157;p21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1"/>
            <p:cNvSpPr txBox="1"/>
            <p:nvPr/>
          </p:nvSpPr>
          <p:spPr>
            <a:xfrm>
              <a:off x="238125" y="238125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Viabilidad</a:t>
              </a:r>
              <a:endParaRPr b="1" sz="1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Alcance Acotado: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PMV estrictamente delimitado a épicas principales.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Dominio Tecnológico: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Familiaridad previa del equipo en Python, desarrollo web y lenguaje SQL.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Recursos Disponibles: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Equipos propios, repositorio GitHub activo y entornos configurados.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Horas/Semestre: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Planificado para ejecutarse entre las semanas 5 y 14 de la asignatura Capstone.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" name="Google Shape;160;p21"/>
          <p:cNvGrpSpPr/>
          <p:nvPr/>
        </p:nvGrpSpPr>
        <p:grpSpPr>
          <a:xfrm>
            <a:off x="4762500" y="1238250"/>
            <a:ext cx="3905400" cy="3333900"/>
            <a:chOff x="0" y="0"/>
            <a:chExt cx="3905400" cy="3333900"/>
          </a:xfrm>
        </p:grpSpPr>
        <p:sp>
          <p:nvSpPr>
            <p:cNvPr id="161" name="Google Shape;161;p21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238125" y="238125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Factores de Riesgo</a:t>
              </a:r>
              <a:endParaRPr b="1" sz="1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Complejidad del modelo de datos anterior: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mitiga priorizando el </a:t>
              </a: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Producto Mínimo Viable (PMV)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enfocado en recepción, proceso y auditoría.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Esto evita retrasos antes de la implementación de módulos secundarios.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</a:t>
            </a:r>
            <a:endParaRPr/>
          </a:p>
        </p:txBody>
      </p:sp>
      <p:graphicFrame>
        <p:nvGraphicFramePr>
          <p:cNvPr id="169" name="Google Shape;169;p22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{EB4C55EB-C00C-436C-B54D-D93FEA5C7B58}</a:tableStyleId>
              </a:tblPr>
              <a:tblGrid>
                <a:gridCol w="2556175"/>
                <a:gridCol w="1022475"/>
                <a:gridCol w="1363300"/>
                <a:gridCol w="35786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Actividad / Épica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Duración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Responsable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Detalle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Definición del Proyecto APT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Alcance, épicas, objetivos y plan de trabajo (Fase 1).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Modelo ER y arquitectura base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Diego Carrillo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 entidad-relación sobre tablas legado y estructura del repo.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E1: Autenticación y RBAC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Diego Carrillo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Login y control de acceso por rol (Operador / Administrador).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E2: Maestros core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Angelo Galindo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CRUD de productores y catálogos (especie, variedad, calidad, bandeja).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E3: Recepción de tarjas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Alejandro Rodríguez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Numeración automática, cálculo de kilos, stock de bandejas e impresión.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E4: Procesamiento y auditoría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Angelo Galindo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Edición posterior a impresión con bitácora de auditoría.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Pruebas de certificación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Alejandro Rodríguez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Pruebas funcionales y no funcionales de los 4 módulos.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Cierre y entrega final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Documentación técnica, manual de usuario, informe y presentación final.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476250" y="3810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Evidencias del Proyecto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476250" y="904875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siguientes evidencias permitirán dar cuenta del logro de las actividades del Proyecto APT: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6" name="Google Shape;176;p23"/>
          <p:cNvGrpSpPr/>
          <p:nvPr/>
        </p:nvGrpSpPr>
        <p:grpSpPr>
          <a:xfrm>
            <a:off x="476250" y="1381125"/>
            <a:ext cx="3905400" cy="3048000"/>
            <a:chOff x="0" y="0"/>
            <a:chExt cx="3905400" cy="3048000"/>
          </a:xfrm>
        </p:grpSpPr>
        <p:sp>
          <p:nvSpPr>
            <p:cNvPr id="177" name="Google Shape;177;p23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3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Planificación y Requisitos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Definición de Épicas: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Documento de definición con sus respectivos criterios de aceptación.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Poker Planning: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Estimación y dimensionamiento del esfuerzo de desarrollo.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Preguntas de Negocio: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Registro de consultas abiertas con Socradex.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23"/>
          <p:cNvGrpSpPr/>
          <p:nvPr/>
        </p:nvGrpSpPr>
        <p:grpSpPr>
          <a:xfrm>
            <a:off x="4762500" y="1381125"/>
            <a:ext cx="3905400" cy="3048000"/>
            <a:chOff x="0" y="0"/>
            <a:chExt cx="3905400" cy="3048000"/>
          </a:xfrm>
        </p:grpSpPr>
        <p:sp>
          <p:nvSpPr>
            <p:cNvPr id="181" name="Google Shape;181;p23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3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Desarrollo y Entregables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Repositorio en GitHub: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Control de versiones y código fuente del proyecto.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Modelo Entidad-Relación: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Estructura y diseño de la base de datos.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Módulos Funcionales: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Implementación del Producto Mínimo Viable (PMV).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