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1" r:id="rId5"/>
    <p:sldMasterId id="214748366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y="5143500" cx="9144000"/>
  <p:notesSz cx="6858000" cy="9144000"/>
  <p:embeddedFontLst>
    <p:embeddedFont>
      <p:font typeface="Plus Jakarta Sans ExtraBold"/>
      <p:bold r:id="rId19"/>
      <p:boldItalic r:id="rId20"/>
    </p:embeddedFont>
    <p:embeddedFont>
      <p:font typeface="Inter SemiBold"/>
      <p:regular r:id="rId21"/>
      <p:bold r:id="rId22"/>
      <p:italic r:id="rId23"/>
      <p:boldItalic r:id="rId24"/>
    </p:embeddedFont>
    <p:embeddedFont>
      <p:font typeface="Plus Jakarta Sans"/>
      <p:regular r:id="rId25"/>
      <p:bold r:id="rId26"/>
      <p:italic r:id="rId27"/>
      <p:boldItalic r:id="rId28"/>
    </p:embeddedFont>
    <p:embeddedFont>
      <p:font typeface="Inter"/>
      <p:bold r:id="rId29"/>
      <p:boldItalic r:id="rId30"/>
    </p:embeddedFont>
    <p:embeddedFont>
      <p:font typeface="Plus Jakarta Sans Medium"/>
      <p:regular r:id="rId31"/>
      <p:bold r:id="rId32"/>
      <p:italic r:id="rId33"/>
      <p:boldItalic r:id="rId34"/>
    </p:embeddedFont>
    <p:embeddedFont>
      <p:font typeface="Inter Medium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605F727-CFD4-4E81-9CF6-A8E1723FF7CF}">
  <a:tblStyle styleId="{E605F727-CFD4-4E81-9CF6-A8E1723FF7C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lusJakartaSansExtraBold-boldItalic.fntdata"/><Relationship Id="rId22" Type="http://schemas.openxmlformats.org/officeDocument/2006/relationships/font" Target="fonts/InterSemiBold-bold.fntdata"/><Relationship Id="rId21" Type="http://schemas.openxmlformats.org/officeDocument/2006/relationships/font" Target="fonts/InterSemiBold-regular.fntdata"/><Relationship Id="rId24" Type="http://schemas.openxmlformats.org/officeDocument/2006/relationships/font" Target="fonts/InterSemiBold-boldItalic.fntdata"/><Relationship Id="rId23" Type="http://schemas.openxmlformats.org/officeDocument/2006/relationships/font" Target="fonts/InterSemiBold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font" Target="fonts/PlusJakartaSans-bold.fntdata"/><Relationship Id="rId25" Type="http://schemas.openxmlformats.org/officeDocument/2006/relationships/font" Target="fonts/PlusJakartaSans-regular.fntdata"/><Relationship Id="rId28" Type="http://schemas.openxmlformats.org/officeDocument/2006/relationships/font" Target="fonts/PlusJakartaSans-boldItalic.fntdata"/><Relationship Id="rId27" Type="http://schemas.openxmlformats.org/officeDocument/2006/relationships/font" Target="fonts/PlusJakartaSans-italic.fntdata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font" Target="fonts/Inter-bold.fnt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font" Target="fonts/PlusJakartaSansMedium-regular.fntdata"/><Relationship Id="rId30" Type="http://schemas.openxmlformats.org/officeDocument/2006/relationships/font" Target="fonts/Inter-boldItalic.fntdata"/><Relationship Id="rId11" Type="http://schemas.openxmlformats.org/officeDocument/2006/relationships/slide" Target="slides/slide4.xml"/><Relationship Id="rId33" Type="http://schemas.openxmlformats.org/officeDocument/2006/relationships/font" Target="fonts/PlusJakartaSansMedium-italic.fntdata"/><Relationship Id="rId10" Type="http://schemas.openxmlformats.org/officeDocument/2006/relationships/slide" Target="slides/slide3.xml"/><Relationship Id="rId32" Type="http://schemas.openxmlformats.org/officeDocument/2006/relationships/font" Target="fonts/PlusJakartaSansMedium-bold.fntdata"/><Relationship Id="rId13" Type="http://schemas.openxmlformats.org/officeDocument/2006/relationships/slide" Target="slides/slide6.xml"/><Relationship Id="rId35" Type="http://schemas.openxmlformats.org/officeDocument/2006/relationships/font" Target="fonts/InterMedium-regular.fntdata"/><Relationship Id="rId12" Type="http://schemas.openxmlformats.org/officeDocument/2006/relationships/slide" Target="slides/slide5.xml"/><Relationship Id="rId34" Type="http://schemas.openxmlformats.org/officeDocument/2006/relationships/font" Target="fonts/PlusJakartaSansMedium-boldItalic.fntdata"/><Relationship Id="rId15" Type="http://schemas.openxmlformats.org/officeDocument/2006/relationships/slide" Target="slides/slide8.xml"/><Relationship Id="rId37" Type="http://schemas.openxmlformats.org/officeDocument/2006/relationships/font" Target="fonts/InterMedium-italic.fntdata"/><Relationship Id="rId14" Type="http://schemas.openxmlformats.org/officeDocument/2006/relationships/slide" Target="slides/slide7.xml"/><Relationship Id="rId36" Type="http://schemas.openxmlformats.org/officeDocument/2006/relationships/font" Target="fonts/InterMedium-bold.fntdata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38" Type="http://schemas.openxmlformats.org/officeDocument/2006/relationships/font" Target="fonts/InterMedium-boldItalic.fntdata"/><Relationship Id="rId19" Type="http://schemas.openxmlformats.org/officeDocument/2006/relationships/font" Target="fonts/PlusJakartaSansExtraBold-bold.fntdata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f8aee16b2b_1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" name="Google Shape;55;g3f8aee16b2b_1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f8aee16b2b_1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" name="Google Shape;75;g3f8aee16b2b_1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f8aee16b2b_1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g3f8aee16b2b_1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f8aee16b2b_1_2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3" name="Google Shape;123;g3f8aee16b2b_1_2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f8aee16b2b_1_2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g3f8aee16b2b_1_2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8aee16b2b_1_3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4" name="Google Shape;154;g3f8aee16b2b_1_3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" name="Google Shape;16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f8aee16b2b_1_4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5" name="Google Shape;175;g3f8aee16b2b_1_4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f4164cdfdb_0_15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9" name="Google Shape;189;g3f4164cdfdb_0_15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g3f4164cdfdb_0_15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image" Target="../media/image5.png"/><Relationship Id="rId7" Type="http://schemas.openxmlformats.org/officeDocument/2006/relationships/image" Target="../media/image9.png"/><Relationship Id="rId8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6"/>
          <p:cNvSpPr txBox="1"/>
          <p:nvPr/>
        </p:nvSpPr>
        <p:spPr>
          <a:xfrm>
            <a:off x="762000" y="762000"/>
            <a:ext cx="7620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s" sz="5180">
                <a:solidFill>
                  <a:srgbClr val="0F172A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A2D SM</a:t>
            </a:r>
            <a:endParaRPr b="0" sz="5180">
              <a:solidFill>
                <a:srgbClr val="0F172A"/>
              </a:solidFill>
              <a:latin typeface="Plus Jakarta Sans ExtraBold"/>
              <a:ea typeface="Plus Jakarta Sans ExtraBold"/>
              <a:cs typeface="Plus Jakarta Sans ExtraBold"/>
              <a:sym typeface="Plus Jakarta Sans ExtraBold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s" sz="1665">
                <a:solidFill>
                  <a:srgbClr val="0284C7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rPr>
              <a:t>Sistema de trazabilidad para Socradex</a:t>
            </a:r>
            <a:endParaRPr b="0" sz="1665">
              <a:solidFill>
                <a:srgbClr val="0284C7"/>
              </a:solidFill>
              <a:latin typeface="Plus Jakarta Sans Medium"/>
              <a:ea typeface="Plus Jakarta Sans Medium"/>
              <a:cs typeface="Plus Jakarta Sans Medium"/>
              <a:sym typeface="Plus Jakarta Sans Medium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None/>
            </a:pPr>
            <a:r>
              <a:rPr b="0" lang="es" sz="1203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Desarrollado por A2D Solutions</a:t>
            </a:r>
            <a:endParaRPr b="0" sz="1203">
              <a:solidFill>
                <a:srgbClr val="64748B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grpSp>
        <p:nvGrpSpPr>
          <p:cNvPr id="58" name="Google Shape;58;p16"/>
          <p:cNvGrpSpPr/>
          <p:nvPr/>
        </p:nvGrpSpPr>
        <p:grpSpPr>
          <a:xfrm>
            <a:off x="762000" y="2952750"/>
            <a:ext cx="3619500" cy="1428900"/>
            <a:chOff x="0" y="0"/>
            <a:chExt cx="3619500" cy="1428900"/>
          </a:xfrm>
        </p:grpSpPr>
        <p:sp>
          <p:nvSpPr>
            <p:cNvPr id="59" name="Google Shape;59;p16"/>
            <p:cNvSpPr/>
            <p:nvPr/>
          </p:nvSpPr>
          <p:spPr>
            <a:xfrm>
              <a:off x="0" y="0"/>
              <a:ext cx="3619500" cy="1428900"/>
            </a:xfrm>
            <a:prstGeom prst="roundRect">
              <a:avLst>
                <a:gd fmla="val 80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" name="Google Shape;60;p16"/>
            <p:cNvSpPr/>
            <p:nvPr/>
          </p:nvSpPr>
          <p:spPr>
            <a:xfrm>
              <a:off x="0" y="0"/>
              <a:ext cx="114300" cy="1428900"/>
            </a:xfrm>
            <a:custGeom>
              <a:rect b="b" l="l" r="r" t="t"/>
              <a:pathLst>
                <a:path extrusionOk="0" h="120000" w="120000">
                  <a:moveTo>
                    <a:pt x="0" y="9600"/>
                  </a:moveTo>
                  <a:cubicBezTo>
                    <a:pt x="0" y="4296"/>
                    <a:pt x="53700" y="0"/>
                    <a:pt x="120000" y="0"/>
                  </a:cubicBezTo>
                  <a:lnTo>
                    <a:pt x="120000" y="120000"/>
                  </a:lnTo>
                  <a:cubicBezTo>
                    <a:pt x="53700" y="120000"/>
                    <a:pt x="0" y="115704"/>
                    <a:pt x="0" y="110400"/>
                  </a:cubicBezTo>
                  <a:close/>
                </a:path>
              </a:pathLst>
            </a:cu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" name="Google Shape;61;p16"/>
            <p:cNvSpPr txBox="1"/>
            <p:nvPr/>
          </p:nvSpPr>
          <p:spPr>
            <a:xfrm>
              <a:off x="228600" y="190500"/>
              <a:ext cx="31623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Integrantes del Equipo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s" sz="1200">
                  <a:solidFill>
                    <a:srgbClr val="475569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Alejandro Rodríguez</a:t>
              </a:r>
              <a:endParaRPr b="0" sz="1200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s" sz="1200">
                  <a:solidFill>
                    <a:srgbClr val="475569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Diego Carrillo</a:t>
              </a:r>
              <a:endParaRPr b="0" sz="1200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150"/>
                </a:spcAft>
                <a:buNone/>
              </a:pPr>
              <a:r>
                <a:rPr b="0" lang="es" sz="1200">
                  <a:solidFill>
                    <a:srgbClr val="475569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Angelo Galindo</a:t>
              </a:r>
              <a:endParaRPr b="0" sz="1200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62" name="Google Shape;62;p16"/>
          <p:cNvGrpSpPr/>
          <p:nvPr/>
        </p:nvGrpSpPr>
        <p:grpSpPr>
          <a:xfrm>
            <a:off x="4762500" y="2952750"/>
            <a:ext cx="3619500" cy="1428900"/>
            <a:chOff x="0" y="0"/>
            <a:chExt cx="3619500" cy="1428900"/>
          </a:xfrm>
        </p:grpSpPr>
        <p:sp>
          <p:nvSpPr>
            <p:cNvPr id="63" name="Google Shape;63;p16"/>
            <p:cNvSpPr/>
            <p:nvPr/>
          </p:nvSpPr>
          <p:spPr>
            <a:xfrm>
              <a:off x="0" y="0"/>
              <a:ext cx="3619500" cy="1428900"/>
            </a:xfrm>
            <a:prstGeom prst="roundRect">
              <a:avLst>
                <a:gd fmla="val 80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" name="Google Shape;64;p16"/>
            <p:cNvSpPr/>
            <p:nvPr/>
          </p:nvSpPr>
          <p:spPr>
            <a:xfrm>
              <a:off x="0" y="0"/>
              <a:ext cx="114300" cy="1428900"/>
            </a:xfrm>
            <a:custGeom>
              <a:rect b="b" l="l" r="r" t="t"/>
              <a:pathLst>
                <a:path extrusionOk="0" h="120000" w="120000">
                  <a:moveTo>
                    <a:pt x="0" y="9600"/>
                  </a:moveTo>
                  <a:cubicBezTo>
                    <a:pt x="0" y="4296"/>
                    <a:pt x="53700" y="0"/>
                    <a:pt x="120000" y="0"/>
                  </a:cubicBezTo>
                  <a:lnTo>
                    <a:pt x="120000" y="120000"/>
                  </a:lnTo>
                  <a:cubicBezTo>
                    <a:pt x="53700" y="120000"/>
                    <a:pt x="0" y="115704"/>
                    <a:pt x="0" y="110400"/>
                  </a:cubicBezTo>
                  <a:close/>
                </a:path>
              </a:pathLst>
            </a:custGeom>
            <a:solidFill>
              <a:srgbClr val="64748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16"/>
            <p:cNvSpPr txBox="1"/>
            <p:nvPr/>
          </p:nvSpPr>
          <p:spPr>
            <a:xfrm>
              <a:off x="228600" y="190500"/>
              <a:ext cx="31623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Escuela &amp; Carrera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s" sz="1200">
                  <a:solidFill>
                    <a:srgbClr val="475569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Informática y Telecomunicaciones</a:t>
              </a:r>
              <a:endParaRPr b="0" sz="1200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150"/>
                </a:spcAft>
                <a:buNone/>
              </a:pPr>
              <a:r>
                <a:rPr b="0" lang="es" sz="1200">
                  <a:solidFill>
                    <a:srgbClr val="475569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Ingeniería en Informática</a:t>
              </a:r>
              <a:endParaRPr b="0" sz="1200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pic>
        <p:nvPicPr>
          <p:cNvPr descr="http://www.duoc.cl/normasgraficas/normasgraficas/marca-duoc/6logo-fondo-transparente/fondo-transparente.png" id="66" name="Google Shape;6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86525" y="205225"/>
            <a:ext cx="2000250" cy="428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7"/>
          <p:cNvSpPr txBox="1"/>
          <p:nvPr>
            <p:ph type="ctrTitle"/>
          </p:nvPr>
        </p:nvSpPr>
        <p:spPr>
          <a:xfrm>
            <a:off x="200525" y="-36650"/>
            <a:ext cx="42909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73333"/>
              <a:buFont typeface="Arial"/>
              <a:buNone/>
            </a:pPr>
            <a:r>
              <a:rPr b="1" lang="es" sz="30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Contexto y Descripción</a:t>
            </a:r>
            <a:endParaRPr sz="4300"/>
          </a:p>
        </p:txBody>
      </p:sp>
      <p:pic>
        <p:nvPicPr>
          <p:cNvPr id="72" name="Google Shape;72;p17"/>
          <p:cNvPicPr preferRelativeResize="0"/>
          <p:nvPr/>
        </p:nvPicPr>
        <p:blipFill rotWithShape="1">
          <a:blip r:embed="rId3">
            <a:alphaModFix/>
          </a:blip>
          <a:srcRect b="0" l="448" r="0" t="10722"/>
          <a:stretch/>
        </p:blipFill>
        <p:spPr>
          <a:xfrm>
            <a:off x="805500" y="667018"/>
            <a:ext cx="7347000" cy="4478700"/>
          </a:xfrm>
          <a:prstGeom prst="round1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8"/>
          <p:cNvSpPr txBox="1"/>
          <p:nvPr/>
        </p:nvSpPr>
        <p:spPr>
          <a:xfrm>
            <a:off x="476250" y="381000"/>
            <a:ext cx="81915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4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Descripción y Relevancia Laboral</a:t>
            </a:r>
            <a:endParaRPr b="1" sz="2400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78" name="Google Shape;78;p18"/>
          <p:cNvSpPr txBox="1"/>
          <p:nvPr/>
        </p:nvSpPr>
        <p:spPr>
          <a:xfrm>
            <a:off x="476250" y="952500"/>
            <a:ext cx="39054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s" sz="1200">
                <a:solidFill>
                  <a:srgbClr val="0284C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Modernización sin alteración de la producción</a:t>
            </a:r>
            <a:endParaRPr b="0" sz="1200">
              <a:solidFill>
                <a:srgbClr val="0284C7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grpSp>
        <p:nvGrpSpPr>
          <p:cNvPr id="79" name="Google Shape;79;p18"/>
          <p:cNvGrpSpPr/>
          <p:nvPr/>
        </p:nvGrpSpPr>
        <p:grpSpPr>
          <a:xfrm>
            <a:off x="476250" y="1333500"/>
            <a:ext cx="3905400" cy="1047900"/>
            <a:chOff x="0" y="0"/>
            <a:chExt cx="3905400" cy="1047900"/>
          </a:xfrm>
        </p:grpSpPr>
        <p:sp>
          <p:nvSpPr>
            <p:cNvPr id="80" name="Google Shape;80;p18"/>
            <p:cNvSpPr/>
            <p:nvPr/>
          </p:nvSpPr>
          <p:spPr>
            <a:xfrm>
              <a:off x="0" y="0"/>
              <a:ext cx="3905400" cy="1047900"/>
            </a:xfrm>
            <a:prstGeom prst="roundRect">
              <a:avLst>
                <a:gd fmla="val 727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18"/>
            <p:cNvSpPr/>
            <p:nvPr/>
          </p:nvSpPr>
          <p:spPr>
            <a:xfrm>
              <a:off x="0" y="0"/>
              <a:ext cx="57300" cy="10479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18"/>
            <p:cNvSpPr txBox="1"/>
            <p:nvPr/>
          </p:nvSpPr>
          <p:spPr>
            <a:xfrm>
              <a:off x="190500" y="95250"/>
              <a:ext cx="35244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Cliente Socradex</a:t>
              </a:r>
              <a:endParaRPr b="1" sz="11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2100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Inter"/>
                <a:buChar char="●"/>
              </a:pPr>
              <a:r>
                <a:rPr lang="es" sz="10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Empresa procesadora de fruta</a:t>
              </a:r>
              <a:endParaRPr sz="1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2100" lvl="0" marL="457200" rtl="0" algn="l">
                <a:spcBef>
                  <a:spcPts val="30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Inter"/>
                <a:buChar char="●"/>
              </a:pPr>
              <a:r>
                <a:rPr lang="es" sz="10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Alto flujo de trabajo</a:t>
              </a:r>
              <a:endParaRPr sz="1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2100" lvl="0" marL="457200" rtl="0" algn="l">
                <a:spcBef>
                  <a:spcPts val="30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Inter"/>
                <a:buChar char="●"/>
              </a:pPr>
              <a:r>
                <a:rPr lang="es" sz="10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Sistema con software no actualizado</a:t>
              </a:r>
              <a:endParaRPr sz="1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83" name="Google Shape;83;p18"/>
          <p:cNvGrpSpPr/>
          <p:nvPr/>
        </p:nvGrpSpPr>
        <p:grpSpPr>
          <a:xfrm>
            <a:off x="476250" y="2524125"/>
            <a:ext cx="3905400" cy="904800"/>
            <a:chOff x="0" y="0"/>
            <a:chExt cx="3905400" cy="904800"/>
          </a:xfrm>
        </p:grpSpPr>
        <p:sp>
          <p:nvSpPr>
            <p:cNvPr id="84" name="Google Shape;84;p18"/>
            <p:cNvSpPr/>
            <p:nvPr/>
          </p:nvSpPr>
          <p:spPr>
            <a:xfrm>
              <a:off x="0" y="0"/>
              <a:ext cx="3905400" cy="904800"/>
            </a:xfrm>
            <a:prstGeom prst="roundRect">
              <a:avLst>
                <a:gd fmla="val 8421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18"/>
            <p:cNvSpPr/>
            <p:nvPr/>
          </p:nvSpPr>
          <p:spPr>
            <a:xfrm>
              <a:off x="0" y="0"/>
              <a:ext cx="57300" cy="9048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18"/>
            <p:cNvSpPr txBox="1"/>
            <p:nvPr/>
          </p:nvSpPr>
          <p:spPr>
            <a:xfrm>
              <a:off x="190500" y="95250"/>
              <a:ext cx="35244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Sistema A2D SM</a:t>
              </a:r>
              <a:endParaRPr b="1" sz="11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2100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Inter"/>
                <a:buChar char="●"/>
              </a:pPr>
              <a:r>
                <a:rPr lang="es" sz="10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Se desarrollará 100% en paralelo</a:t>
              </a:r>
              <a:endParaRPr sz="1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2100" lvl="0" marL="457200" rtl="0" algn="l">
                <a:spcBef>
                  <a:spcPts val="30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Inter"/>
                <a:buChar char="●"/>
              </a:pPr>
              <a:r>
                <a:rPr lang="es" sz="10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Suplirá deficiencias de seguridad</a:t>
              </a:r>
              <a:endParaRPr sz="1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87" name="Google Shape;87;p18"/>
          <p:cNvGrpSpPr/>
          <p:nvPr/>
        </p:nvGrpSpPr>
        <p:grpSpPr>
          <a:xfrm>
            <a:off x="476250" y="3619500"/>
            <a:ext cx="8191500" cy="1047900"/>
            <a:chOff x="0" y="0"/>
            <a:chExt cx="8191500" cy="1047900"/>
          </a:xfrm>
        </p:grpSpPr>
        <p:sp>
          <p:nvSpPr>
            <p:cNvPr id="88" name="Google Shape;88;p18"/>
            <p:cNvSpPr/>
            <p:nvPr/>
          </p:nvSpPr>
          <p:spPr>
            <a:xfrm>
              <a:off x="0" y="0"/>
              <a:ext cx="8191500" cy="1047900"/>
            </a:xfrm>
            <a:prstGeom prst="roundRect">
              <a:avLst>
                <a:gd fmla="val 7272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" name="Google Shape;89;p18"/>
            <p:cNvSpPr/>
            <p:nvPr/>
          </p:nvSpPr>
          <p:spPr>
            <a:xfrm>
              <a:off x="0" y="0"/>
              <a:ext cx="57300" cy="1047900"/>
            </a:xfrm>
            <a:prstGeom prst="roundRect">
              <a:avLst>
                <a:gd fmla="val 50000" name="adj"/>
              </a:avLst>
            </a:prstGeom>
            <a:solidFill>
              <a:srgbClr val="64748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" name="Google Shape;90;p18"/>
            <p:cNvSpPr txBox="1"/>
            <p:nvPr/>
          </p:nvSpPr>
          <p:spPr>
            <a:xfrm>
              <a:off x="190500" y="114300"/>
              <a:ext cx="7810500" cy="81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Relevancia profesional</a:t>
              </a:r>
              <a:endParaRPr b="1" sz="11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s" sz="10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Nos enfrenta a un escenario altamente común en la industria chilena, como lo es la modernización de un sistema de negocios, sin detener la producción de la empresa y tener que saber cumplir con los tiempos de entrega y las posibles eventualidades.</a:t>
              </a:r>
              <a:endParaRPr sz="1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91" name="Google Shape;9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2" y="1046875"/>
            <a:ext cx="4021800" cy="22383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9"/>
          <p:cNvSpPr txBox="1"/>
          <p:nvPr/>
        </p:nvSpPr>
        <p:spPr>
          <a:xfrm>
            <a:off x="381000" y="381000"/>
            <a:ext cx="8382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6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Nuestro enfoque como ingenieros informáticos: </a:t>
            </a:r>
            <a:endParaRPr b="1" sz="2600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grpSp>
        <p:nvGrpSpPr>
          <p:cNvPr id="97" name="Google Shape;97;p19"/>
          <p:cNvGrpSpPr/>
          <p:nvPr/>
        </p:nvGrpSpPr>
        <p:grpSpPr>
          <a:xfrm>
            <a:off x="381000" y="1238250"/>
            <a:ext cx="1952700" cy="3238500"/>
            <a:chOff x="0" y="0"/>
            <a:chExt cx="1952700" cy="3238500"/>
          </a:xfrm>
        </p:grpSpPr>
        <p:sp>
          <p:nvSpPr>
            <p:cNvPr id="98" name="Google Shape;98;p19"/>
            <p:cNvSpPr/>
            <p:nvPr/>
          </p:nvSpPr>
          <p:spPr>
            <a:xfrm>
              <a:off x="0" y="0"/>
              <a:ext cx="1952700" cy="3238500"/>
            </a:xfrm>
            <a:prstGeom prst="roundRect">
              <a:avLst>
                <a:gd fmla="val 3902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" name="Google Shape;99;p19"/>
            <p:cNvSpPr/>
            <p:nvPr/>
          </p:nvSpPr>
          <p:spPr>
            <a:xfrm>
              <a:off x="0" y="0"/>
              <a:ext cx="47700" cy="32385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19"/>
            <p:cNvSpPr txBox="1"/>
            <p:nvPr/>
          </p:nvSpPr>
          <p:spPr>
            <a:xfrm>
              <a:off x="190500" y="723900"/>
              <a:ext cx="15717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5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Gestión de Proyectos</a:t>
              </a:r>
              <a:endParaRPr b="1" sz="11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Identificación de Épicas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Organización Prioridad con Poker planning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Definición del PMV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Metodología</a:t>
              </a: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de trabajo Scrum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1" name="Google Shape;101;p19"/>
          <p:cNvGrpSpPr/>
          <p:nvPr/>
        </p:nvGrpSpPr>
        <p:grpSpPr>
          <a:xfrm>
            <a:off x="2524125" y="1238250"/>
            <a:ext cx="1952700" cy="3238500"/>
            <a:chOff x="0" y="0"/>
            <a:chExt cx="1952700" cy="3238500"/>
          </a:xfrm>
        </p:grpSpPr>
        <p:sp>
          <p:nvSpPr>
            <p:cNvPr id="102" name="Google Shape;102;p19"/>
            <p:cNvSpPr/>
            <p:nvPr/>
          </p:nvSpPr>
          <p:spPr>
            <a:xfrm>
              <a:off x="0" y="0"/>
              <a:ext cx="1952700" cy="3238500"/>
            </a:xfrm>
            <a:prstGeom prst="roundRect">
              <a:avLst>
                <a:gd fmla="val 3902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19"/>
            <p:cNvSpPr/>
            <p:nvPr/>
          </p:nvSpPr>
          <p:spPr>
            <a:xfrm>
              <a:off x="0" y="0"/>
              <a:ext cx="47700" cy="32385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19"/>
            <p:cNvSpPr txBox="1"/>
            <p:nvPr/>
          </p:nvSpPr>
          <p:spPr>
            <a:xfrm>
              <a:off x="190500" y="723900"/>
              <a:ext cx="15717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5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Modelamiento de Datos</a:t>
              </a:r>
              <a:endParaRPr b="1" sz="11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Diseño de modelo relacional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Convive con tablas heredadas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5" name="Google Shape;105;p19"/>
          <p:cNvGrpSpPr/>
          <p:nvPr/>
        </p:nvGrpSpPr>
        <p:grpSpPr>
          <a:xfrm>
            <a:off x="4667250" y="1238250"/>
            <a:ext cx="1952700" cy="3238500"/>
            <a:chOff x="0" y="0"/>
            <a:chExt cx="1952700" cy="3238500"/>
          </a:xfrm>
        </p:grpSpPr>
        <p:sp>
          <p:nvSpPr>
            <p:cNvPr id="106" name="Google Shape;106;p19"/>
            <p:cNvSpPr/>
            <p:nvPr/>
          </p:nvSpPr>
          <p:spPr>
            <a:xfrm>
              <a:off x="0" y="0"/>
              <a:ext cx="1952700" cy="3238500"/>
            </a:xfrm>
            <a:prstGeom prst="roundRect">
              <a:avLst>
                <a:gd fmla="val 3902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" name="Google Shape;107;p19"/>
            <p:cNvSpPr/>
            <p:nvPr/>
          </p:nvSpPr>
          <p:spPr>
            <a:xfrm>
              <a:off x="0" y="0"/>
              <a:ext cx="47700" cy="32385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9"/>
            <p:cNvSpPr txBox="1"/>
            <p:nvPr/>
          </p:nvSpPr>
          <p:spPr>
            <a:xfrm>
              <a:off x="190500" y="723900"/>
              <a:ext cx="15717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5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Desarrollo de Software</a:t>
              </a:r>
              <a:endParaRPr b="1" sz="11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Arquitectura en capas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Asegurar mantenibilidad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Mejor seguridad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9" name="Google Shape;109;p19"/>
          <p:cNvGrpSpPr/>
          <p:nvPr/>
        </p:nvGrpSpPr>
        <p:grpSpPr>
          <a:xfrm>
            <a:off x="6810375" y="1238250"/>
            <a:ext cx="1952700" cy="3238500"/>
            <a:chOff x="0" y="0"/>
            <a:chExt cx="1952700" cy="3238500"/>
          </a:xfrm>
        </p:grpSpPr>
        <p:sp>
          <p:nvSpPr>
            <p:cNvPr id="110" name="Google Shape;110;p19"/>
            <p:cNvSpPr/>
            <p:nvPr/>
          </p:nvSpPr>
          <p:spPr>
            <a:xfrm>
              <a:off x="0" y="0"/>
              <a:ext cx="1952700" cy="3238500"/>
            </a:xfrm>
            <a:prstGeom prst="roundRect">
              <a:avLst>
                <a:gd fmla="val 3902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9"/>
            <p:cNvSpPr/>
            <p:nvPr/>
          </p:nvSpPr>
          <p:spPr>
            <a:xfrm>
              <a:off x="0" y="0"/>
              <a:ext cx="47700" cy="32385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9"/>
            <p:cNvSpPr txBox="1"/>
            <p:nvPr/>
          </p:nvSpPr>
          <p:spPr>
            <a:xfrm>
              <a:off x="119275" y="723900"/>
              <a:ext cx="17640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5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Pruebas y Calidad</a:t>
              </a:r>
              <a:endParaRPr b="1" sz="11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Diseño de pruebas funcionales y no funcionales para certificar la seguridad y funcionalidad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descr="image.png" id="113" name="Google Shape;11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0175" y="1325425"/>
            <a:ext cx="514350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4" name="Google Shape;11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86425" y="1325425"/>
            <a:ext cx="514350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44650" y="1392717"/>
            <a:ext cx="459600" cy="459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6" name="Google Shape;116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450078" y="1514362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7" name="Google Shape;11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29550" y="1325425"/>
            <a:ext cx="514350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8" name="Google Shape;118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243050" y="1514362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9" name="Google Shape;119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500725" y="1468312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0" name="Google Shape;120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672425" y="1468312"/>
            <a:ext cx="228600" cy="22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oogle Shape;125;p20"/>
          <p:cNvGrpSpPr/>
          <p:nvPr/>
        </p:nvGrpSpPr>
        <p:grpSpPr>
          <a:xfrm>
            <a:off x="476250" y="381000"/>
            <a:ext cx="8191500" cy="571500"/>
            <a:chOff x="0" y="0"/>
            <a:chExt cx="8191500" cy="571500"/>
          </a:xfrm>
        </p:grpSpPr>
        <p:sp>
          <p:nvSpPr>
            <p:cNvPr id="126" name="Google Shape;126;p20"/>
            <p:cNvSpPr/>
            <p:nvPr/>
          </p:nvSpPr>
          <p:spPr>
            <a:xfrm>
              <a:off x="0" y="0"/>
              <a:ext cx="819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" name="Google Shape;127;p20"/>
            <p:cNvSpPr txBox="1"/>
            <p:nvPr/>
          </p:nvSpPr>
          <p:spPr>
            <a:xfrm>
              <a:off x="0" y="0"/>
              <a:ext cx="819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260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Objetivos del Proyecto</a:t>
              </a:r>
              <a:endParaRPr b="1" sz="26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</p:txBody>
        </p:sp>
      </p:grpSp>
      <p:grpSp>
        <p:nvGrpSpPr>
          <p:cNvPr id="128" name="Google Shape;128;p20"/>
          <p:cNvGrpSpPr/>
          <p:nvPr/>
        </p:nvGrpSpPr>
        <p:grpSpPr>
          <a:xfrm>
            <a:off x="476250" y="1238250"/>
            <a:ext cx="3905400" cy="3238500"/>
            <a:chOff x="0" y="0"/>
            <a:chExt cx="3905400" cy="3238500"/>
          </a:xfrm>
        </p:grpSpPr>
        <p:sp>
          <p:nvSpPr>
            <p:cNvPr id="129" name="Google Shape;129;p20"/>
            <p:cNvSpPr/>
            <p:nvPr/>
          </p:nvSpPr>
          <p:spPr>
            <a:xfrm>
              <a:off x="0" y="0"/>
              <a:ext cx="3905400" cy="3238500"/>
            </a:xfrm>
            <a:prstGeom prst="roundRect">
              <a:avLst>
                <a:gd fmla="val 235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20"/>
            <p:cNvSpPr/>
            <p:nvPr/>
          </p:nvSpPr>
          <p:spPr>
            <a:xfrm>
              <a:off x="0" y="0"/>
              <a:ext cx="57300" cy="32385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" name="Google Shape;131;p20"/>
            <p:cNvSpPr txBox="1"/>
            <p:nvPr/>
          </p:nvSpPr>
          <p:spPr>
            <a:xfrm>
              <a:off x="151625" y="238050"/>
              <a:ext cx="3574500" cy="276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40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Objetivo General</a:t>
              </a:r>
              <a:endParaRPr b="1" sz="14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98450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Inter"/>
                <a:buChar char="●"/>
              </a:pPr>
              <a:r>
                <a:rPr b="0"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Desarrollar e implementar el sistema A2D SM en arquitectura de 3 capas </a:t>
              </a:r>
              <a:r>
                <a:rPr b="1" i="1" lang="es" sz="110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(React - FastAPI - </a:t>
              </a:r>
              <a:r>
                <a:rPr b="1" i="1" lang="es" sz="110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Base de datos</a:t>
              </a:r>
              <a:r>
                <a:rPr b="1" i="1" lang="es" sz="110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)</a:t>
              </a:r>
              <a:endParaRPr b="1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845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Inter"/>
                <a:buChar char="●"/>
              </a:pPr>
              <a:r>
                <a:rPr b="0"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Seguir normativas ISO 9000 y PMI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8450" lvl="0" marL="457200" rtl="0" algn="l">
                <a:spcBef>
                  <a:spcPts val="900"/>
                </a:spcBef>
                <a:spcAft>
                  <a:spcPts val="900"/>
                </a:spcAft>
                <a:buClr>
                  <a:srgbClr val="475569"/>
                </a:buClr>
                <a:buSzPts val="1100"/>
                <a:buFont typeface="Inter"/>
                <a:buChar char="●"/>
              </a:pPr>
              <a:r>
                <a:rPr b="0"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Eliminar vulnerabilidades del sistema anterior.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2" name="Google Shape;132;p20"/>
          <p:cNvGrpSpPr/>
          <p:nvPr/>
        </p:nvGrpSpPr>
        <p:grpSpPr>
          <a:xfrm>
            <a:off x="4762500" y="1238250"/>
            <a:ext cx="3905400" cy="3238500"/>
            <a:chOff x="0" y="0"/>
            <a:chExt cx="3905400" cy="3238500"/>
          </a:xfrm>
        </p:grpSpPr>
        <p:sp>
          <p:nvSpPr>
            <p:cNvPr id="133" name="Google Shape;133;p20"/>
            <p:cNvSpPr/>
            <p:nvPr/>
          </p:nvSpPr>
          <p:spPr>
            <a:xfrm>
              <a:off x="0" y="0"/>
              <a:ext cx="3905400" cy="3238500"/>
            </a:xfrm>
            <a:prstGeom prst="roundRect">
              <a:avLst>
                <a:gd fmla="val 235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p20"/>
            <p:cNvSpPr/>
            <p:nvPr/>
          </p:nvSpPr>
          <p:spPr>
            <a:xfrm>
              <a:off x="0" y="0"/>
              <a:ext cx="57300" cy="32385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" name="Google Shape;135;p20"/>
            <p:cNvSpPr txBox="1"/>
            <p:nvPr/>
          </p:nvSpPr>
          <p:spPr>
            <a:xfrm>
              <a:off x="238125" y="238125"/>
              <a:ext cx="3429000" cy="276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40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Objetivos Específicos</a:t>
              </a:r>
              <a:endParaRPr b="1" sz="14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98450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Inter"/>
                <a:buChar char="●"/>
              </a:pPr>
              <a:r>
                <a:rPr b="0"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Diseñar un modelo de datos relacional normalizado.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8450" lvl="0" marL="457200" rtl="0" algn="l">
                <a:spcBef>
                  <a:spcPts val="900"/>
                </a:spcBef>
                <a:spcAft>
                  <a:spcPts val="900"/>
                </a:spcAft>
                <a:buClr>
                  <a:srgbClr val="475569"/>
                </a:buClr>
                <a:buSzPts val="1100"/>
                <a:buFont typeface="Inter"/>
                <a:buChar char="●"/>
              </a:pPr>
              <a:r>
                <a:rPr b="0"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Implementar un módulo de autenticación y control de acceso basado en roles </a:t>
              </a:r>
              <a:r>
                <a:rPr b="1" lang="es" sz="1100">
                  <a:solidFill>
                    <a:srgbClr val="4A86E8"/>
                  </a:solidFill>
                  <a:latin typeface="Inter"/>
                  <a:ea typeface="Inter"/>
                  <a:cs typeface="Inter"/>
                  <a:sym typeface="Inter"/>
                </a:rPr>
                <a:t>(RBAC)</a:t>
              </a:r>
              <a:r>
                <a:rPr b="0"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para restringir el acceso a las funciones operativas del sistema.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1"/>
          <p:cNvSpPr txBox="1"/>
          <p:nvPr>
            <p:ph type="title"/>
          </p:nvPr>
        </p:nvSpPr>
        <p:spPr>
          <a:xfrm>
            <a:off x="262750" y="19990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79772"/>
              <a:buFont typeface="Arial"/>
              <a:buNone/>
            </a:pPr>
            <a:r>
              <a:rPr b="1" lang="es" sz="39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Metodología </a:t>
            </a:r>
            <a:endParaRPr/>
          </a:p>
        </p:txBody>
      </p:sp>
      <p:sp>
        <p:nvSpPr>
          <p:cNvPr id="141" name="Google Shape;141;p21"/>
          <p:cNvSpPr txBox="1"/>
          <p:nvPr/>
        </p:nvSpPr>
        <p:spPr>
          <a:xfrm>
            <a:off x="1839100" y="2893225"/>
            <a:ext cx="5367900" cy="40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Font typeface="Arial"/>
              <a:buNone/>
            </a:pPr>
            <a:r>
              <a:rPr b="0" i="0" lang="es" sz="1650" u="none" cap="none" strike="noStrike">
                <a:solidFill>
                  <a:srgbClr val="0284C7"/>
                </a:solidFill>
                <a:latin typeface="Inter Medium"/>
                <a:ea typeface="Inter Medium"/>
                <a:cs typeface="Inter Medium"/>
                <a:sym typeface="Inter Medium"/>
              </a:rPr>
              <a:t>Estrategia técnica, factibilidad y plan de trabajo</a:t>
            </a:r>
            <a:endParaRPr b="0" i="0" sz="16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2"/>
          <p:cNvSpPr txBox="1"/>
          <p:nvPr>
            <p:ph type="title"/>
          </p:nvPr>
        </p:nvSpPr>
        <p:spPr>
          <a:xfrm>
            <a:off x="476250" y="381000"/>
            <a:ext cx="8191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grpSp>
        <p:nvGrpSpPr>
          <p:cNvPr id="147" name="Google Shape;147;p22"/>
          <p:cNvGrpSpPr/>
          <p:nvPr/>
        </p:nvGrpSpPr>
        <p:grpSpPr>
          <a:xfrm>
            <a:off x="476250" y="1238250"/>
            <a:ext cx="3905400" cy="3238500"/>
            <a:chOff x="0" y="0"/>
            <a:chExt cx="3905400" cy="3238500"/>
          </a:xfrm>
        </p:grpSpPr>
        <p:sp>
          <p:nvSpPr>
            <p:cNvPr id="148" name="Google Shape;148;p22"/>
            <p:cNvSpPr/>
            <p:nvPr/>
          </p:nvSpPr>
          <p:spPr>
            <a:xfrm>
              <a:off x="0" y="0"/>
              <a:ext cx="3905400" cy="3238500"/>
            </a:xfrm>
            <a:prstGeom prst="roundRect">
              <a:avLst>
                <a:gd fmla="val 235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" name="Google Shape;149;p22"/>
            <p:cNvSpPr/>
            <p:nvPr/>
          </p:nvSpPr>
          <p:spPr>
            <a:xfrm>
              <a:off x="0" y="0"/>
              <a:ext cx="57300" cy="32385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" name="Google Shape;150;p22"/>
            <p:cNvSpPr txBox="1"/>
            <p:nvPr/>
          </p:nvSpPr>
          <p:spPr>
            <a:xfrm>
              <a:off x="238125" y="238125"/>
              <a:ext cx="3429000" cy="276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40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Metodología de Desarrollo</a:t>
              </a:r>
              <a:endParaRPr b="1" sz="14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Se utilizará una metodología ágil </a:t>
              </a:r>
              <a:r>
                <a:rPr b="1" lang="es" sz="110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Scrum</a:t>
              </a:r>
              <a:r>
                <a:rPr b="0"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y </a:t>
              </a:r>
              <a:r>
                <a:rPr b="1" lang="es" sz="110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Poker Planning</a:t>
              </a:r>
              <a:r>
                <a:rPr b="0"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para el dimensionamiento y estimación de esfuerzo en Story Points (SP).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s" sz="120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Motivo:</a:t>
              </a:r>
              <a:endParaRPr b="1" sz="12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952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475569"/>
                </a:buClr>
                <a:buSzPts val="1050"/>
                <a:buFont typeface="Inter"/>
                <a:buChar char="●"/>
              </a:pPr>
              <a:r>
                <a:rPr b="0" lang="es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Permite revisiones periódicas de cumplimientos realizados.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52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475569"/>
                </a:buClr>
                <a:buSzPts val="1050"/>
                <a:buFont typeface="Inter"/>
                <a:buChar char="●"/>
              </a:pPr>
              <a:r>
                <a:rPr b="0" lang="es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Facilidad de adaptación según avances.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52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475569"/>
                </a:buClr>
                <a:buSzPts val="1050"/>
                <a:buFont typeface="Inter"/>
                <a:buChar char="●"/>
              </a:pPr>
              <a:r>
                <a:rPr b="0" lang="es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Permite reorganizar recursos y esfuerzos según niveles de complejidad.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52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475569"/>
                </a:buClr>
                <a:buSzPts val="1050"/>
                <a:buFont typeface="Inter"/>
                <a:buChar char="●"/>
              </a:pPr>
              <a:r>
                <a:rPr b="0" lang="es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Las entregas se agruparán en Sprints semanales.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151" name="Google Shape;151;p22" title="scrum.jp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17100" y="1761075"/>
            <a:ext cx="3383001" cy="1932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6" name="Google Shape;156;p23"/>
          <p:cNvGrpSpPr/>
          <p:nvPr/>
        </p:nvGrpSpPr>
        <p:grpSpPr>
          <a:xfrm>
            <a:off x="476250" y="381000"/>
            <a:ext cx="8191500" cy="571500"/>
            <a:chOff x="0" y="0"/>
            <a:chExt cx="8191500" cy="571500"/>
          </a:xfrm>
        </p:grpSpPr>
        <p:sp>
          <p:nvSpPr>
            <p:cNvPr id="157" name="Google Shape;157;p23"/>
            <p:cNvSpPr/>
            <p:nvPr/>
          </p:nvSpPr>
          <p:spPr>
            <a:xfrm>
              <a:off x="0" y="0"/>
              <a:ext cx="819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" name="Google Shape;158;p23"/>
            <p:cNvSpPr txBox="1"/>
            <p:nvPr/>
          </p:nvSpPr>
          <p:spPr>
            <a:xfrm>
              <a:off x="0" y="0"/>
              <a:ext cx="819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260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Factibilidad del proyecto</a:t>
              </a:r>
              <a:endParaRPr b="1" sz="26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</p:txBody>
        </p:sp>
      </p:grpSp>
      <p:grpSp>
        <p:nvGrpSpPr>
          <p:cNvPr id="159" name="Google Shape;159;p23"/>
          <p:cNvGrpSpPr/>
          <p:nvPr/>
        </p:nvGrpSpPr>
        <p:grpSpPr>
          <a:xfrm>
            <a:off x="476250" y="1238250"/>
            <a:ext cx="3905400" cy="3333900"/>
            <a:chOff x="0" y="0"/>
            <a:chExt cx="3905400" cy="3333900"/>
          </a:xfrm>
        </p:grpSpPr>
        <p:sp>
          <p:nvSpPr>
            <p:cNvPr id="160" name="Google Shape;160;p23"/>
            <p:cNvSpPr/>
            <p:nvPr/>
          </p:nvSpPr>
          <p:spPr>
            <a:xfrm>
              <a:off x="0" y="0"/>
              <a:ext cx="3905400" cy="3333900"/>
            </a:xfrm>
            <a:prstGeom prst="roundRect">
              <a:avLst>
                <a:gd fmla="val 2285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p23"/>
            <p:cNvSpPr/>
            <p:nvPr/>
          </p:nvSpPr>
          <p:spPr>
            <a:xfrm>
              <a:off x="0" y="0"/>
              <a:ext cx="57300" cy="33339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" name="Google Shape;162;p23"/>
            <p:cNvSpPr txBox="1"/>
            <p:nvPr/>
          </p:nvSpPr>
          <p:spPr>
            <a:xfrm>
              <a:off x="238125" y="238125"/>
              <a:ext cx="3429000" cy="2857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60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Viabilidad</a:t>
              </a:r>
              <a:endParaRPr b="1" sz="16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s" sz="110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Alcance Acotado:</a:t>
              </a:r>
              <a:r>
                <a:rPr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PMV estrictamente delimitado a épicas principales.</a:t>
              </a:r>
              <a:endParaRPr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s" sz="110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Dominio Tecnológico:</a:t>
              </a:r>
              <a:r>
                <a:rPr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Familiaridad previa del equipo en Python, desarrollo web y lenguaje SQL.</a:t>
              </a:r>
              <a:endParaRPr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s" sz="110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Recursos Disponibles:</a:t>
              </a:r>
              <a:r>
                <a:rPr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Equipos propios, repositorio GitHub activo y entornos configurados.</a:t>
              </a:r>
              <a:endParaRPr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s" sz="110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Horas/Semestre:</a:t>
              </a:r>
              <a:r>
                <a:rPr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Planificado para ejecutarse entre las semanas 5 y 14 .</a:t>
              </a:r>
              <a:endParaRPr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63" name="Google Shape;163;p23"/>
          <p:cNvGrpSpPr/>
          <p:nvPr/>
        </p:nvGrpSpPr>
        <p:grpSpPr>
          <a:xfrm>
            <a:off x="4762500" y="1238250"/>
            <a:ext cx="3905400" cy="3333900"/>
            <a:chOff x="0" y="0"/>
            <a:chExt cx="3905400" cy="3333900"/>
          </a:xfrm>
        </p:grpSpPr>
        <p:sp>
          <p:nvSpPr>
            <p:cNvPr id="164" name="Google Shape;164;p23"/>
            <p:cNvSpPr/>
            <p:nvPr/>
          </p:nvSpPr>
          <p:spPr>
            <a:xfrm>
              <a:off x="0" y="0"/>
              <a:ext cx="3905400" cy="3333900"/>
            </a:xfrm>
            <a:prstGeom prst="roundRect">
              <a:avLst>
                <a:gd fmla="val 2285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" name="Google Shape;165;p23"/>
            <p:cNvSpPr/>
            <p:nvPr/>
          </p:nvSpPr>
          <p:spPr>
            <a:xfrm>
              <a:off x="0" y="0"/>
              <a:ext cx="57300" cy="33339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" name="Google Shape;166;p23"/>
            <p:cNvSpPr txBox="1"/>
            <p:nvPr/>
          </p:nvSpPr>
          <p:spPr>
            <a:xfrm>
              <a:off x="238125" y="238125"/>
              <a:ext cx="3429000" cy="2857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60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Factores de Riesgo</a:t>
              </a:r>
              <a:endParaRPr b="1" sz="16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s" sz="11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Complejidad del modelo de datos anterior:</a:t>
              </a:r>
              <a:endParaRPr b="1" sz="11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Se mitiga priorizando el </a:t>
              </a:r>
              <a:r>
                <a:rPr b="1" lang="es" sz="110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Producto Mínimo Viable (PMV)</a:t>
              </a:r>
              <a:r>
                <a:rPr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enfocado en recepción, proceso y auditoría.</a:t>
              </a:r>
              <a:endParaRPr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Esto evita retrasos antes de la implementación de módulos secundarios.</a:t>
              </a:r>
              <a:endParaRPr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1" lang="es" sz="25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Plan de Trabajo </a:t>
            </a:r>
            <a:endParaRPr/>
          </a:p>
        </p:txBody>
      </p:sp>
      <p:graphicFrame>
        <p:nvGraphicFramePr>
          <p:cNvPr id="172" name="Google Shape;172;p24"/>
          <p:cNvGraphicFramePr/>
          <p:nvPr/>
        </p:nvGraphicFramePr>
        <p:xfrm>
          <a:off x="311700" y="11524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{E605F727-CFD4-4E81-9CF6-A8E1723FF7CF}</a:tableStyleId>
              </a:tblPr>
              <a:tblGrid>
                <a:gridCol w="2556175"/>
                <a:gridCol w="1022475"/>
                <a:gridCol w="1363300"/>
                <a:gridCol w="3578650"/>
              </a:tblGrid>
              <a:tr h="37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900" u="none" cap="none" strike="noStrike">
                          <a:solidFill>
                            <a:srgbClr val="FFFFFF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Actividad / Épica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FA8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900" u="none" cap="none" strike="noStrike">
                          <a:solidFill>
                            <a:srgbClr val="FFFFFF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Duración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FA8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900" u="none" cap="none" strike="noStrike">
                          <a:solidFill>
                            <a:srgbClr val="FFFFFF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Responsable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FA8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900" u="none" cap="none" strike="noStrike">
                          <a:solidFill>
                            <a:srgbClr val="FFFFFF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Detalle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FA8DC"/>
                    </a:solidFill>
                  </a:tcPr>
                </a:tc>
              </a:tr>
              <a:tr h="37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800" u="none" cap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Definición del Proyecto APT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4 semanas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Todo el equipo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Alcance, épicas, objetivos y plan de trabajo (Fase 1).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7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800" u="none" cap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Modelo ER y arquitectura base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2 semanas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Diego Carrillo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Modelo entidad-relación sobre tablas legado y estructura del repo.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</a:tr>
              <a:tr h="37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800" u="none" cap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Épica E1: Autenticación y RBAC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2 semanas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Diego Carrillo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Login y control de acceso por rol (Operador / Administrador).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7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800" u="none" cap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Épica E2: Ma</a:t>
                      </a:r>
                      <a:r>
                        <a:rPr b="1" lang="es" sz="800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ntenedor </a:t>
                      </a:r>
                      <a:r>
                        <a:rPr b="1" lang="es" sz="800" u="none" cap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 core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2 semanas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Angelo Galindo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CRUD de productores y catálogos (especie, variedad, calidad, bandeja).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</a:tr>
              <a:tr h="37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800" u="none" cap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Épica E3: Recepción de tarjas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2 semanas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Alejandro Rodríguez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Numeración automática, cálculo de kilos, stock de bandejas e impresión.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7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800" u="none" cap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Épica E4: Procesamiento y auditoría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2 semanas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Angelo Galindo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Edición posterior a impresión con bitácora de auditoría.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</a:tr>
              <a:tr h="37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800" u="none" cap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Pruebas de certificación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2 semanas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Alejandro Rodríguez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Pruebas funcionales y no funcionales de los 4 módulos.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7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800" u="none" cap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Cierre y entrega final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2 semanas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Todo el equipo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Documentación técnica, manual de usuario, informe y presentación final.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476250" y="381000"/>
            <a:ext cx="8191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6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Evidencias del Proyecto</a:t>
            </a:r>
            <a:endParaRPr b="1" sz="2600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78" name="Google Shape;178;p25"/>
          <p:cNvSpPr txBox="1"/>
          <p:nvPr/>
        </p:nvSpPr>
        <p:spPr>
          <a:xfrm>
            <a:off x="476250" y="904875"/>
            <a:ext cx="8191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s" sz="11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Las siguientes evidencias permitirán dar cuenta del logro de las actividades del Proyecto APT:</a:t>
            </a:r>
            <a:endParaRPr b="0" sz="115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79" name="Google Shape;179;p25"/>
          <p:cNvGrpSpPr/>
          <p:nvPr/>
        </p:nvGrpSpPr>
        <p:grpSpPr>
          <a:xfrm>
            <a:off x="476250" y="1381125"/>
            <a:ext cx="3905400" cy="3048000"/>
            <a:chOff x="0" y="0"/>
            <a:chExt cx="3905400" cy="3048000"/>
          </a:xfrm>
        </p:grpSpPr>
        <p:sp>
          <p:nvSpPr>
            <p:cNvPr id="180" name="Google Shape;180;p25"/>
            <p:cNvSpPr/>
            <p:nvPr/>
          </p:nvSpPr>
          <p:spPr>
            <a:xfrm>
              <a:off x="0" y="0"/>
              <a:ext cx="3905400" cy="3048000"/>
            </a:xfrm>
            <a:prstGeom prst="roundRect">
              <a:avLst>
                <a:gd fmla="val 25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" name="Google Shape;181;p25"/>
            <p:cNvSpPr/>
            <p:nvPr/>
          </p:nvSpPr>
          <p:spPr>
            <a:xfrm>
              <a:off x="0" y="0"/>
              <a:ext cx="57300" cy="30480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" name="Google Shape;182;p25"/>
            <p:cNvSpPr txBox="1"/>
            <p:nvPr/>
          </p:nvSpPr>
          <p:spPr>
            <a:xfrm>
              <a:off x="238125" y="238125"/>
              <a:ext cx="3429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40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Planificación y Requisitos</a:t>
              </a:r>
              <a:endParaRPr b="1" sz="14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95275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050"/>
                <a:buFont typeface="Inter"/>
                <a:buChar char="●"/>
              </a:pPr>
              <a:r>
                <a:rPr b="1" lang="es" sz="10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Definición de Épicas:</a:t>
              </a:r>
              <a:r>
                <a:rPr b="0" lang="es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Documento de definición con sus respectivos criterios de aceptación.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5275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050"/>
                <a:buFont typeface="Inter"/>
                <a:buChar char="●"/>
              </a:pPr>
              <a:r>
                <a:rPr b="1" lang="es" sz="10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Poker Planning:</a:t>
              </a:r>
              <a:r>
                <a:rPr b="0" lang="es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Estimación y dimensionamiento del esfuerzo de desarrollo.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5275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050"/>
                <a:buFont typeface="Inter"/>
                <a:buChar char="●"/>
              </a:pPr>
              <a:r>
                <a:rPr b="1" lang="es" sz="10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Preguntas de Negocio:</a:t>
              </a:r>
              <a:r>
                <a:rPr b="0" lang="es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Registro de consultas abiertas con Socradex.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83" name="Google Shape;183;p25"/>
          <p:cNvGrpSpPr/>
          <p:nvPr/>
        </p:nvGrpSpPr>
        <p:grpSpPr>
          <a:xfrm>
            <a:off x="4762500" y="1381125"/>
            <a:ext cx="3905400" cy="3048000"/>
            <a:chOff x="0" y="0"/>
            <a:chExt cx="3905400" cy="3048000"/>
          </a:xfrm>
        </p:grpSpPr>
        <p:sp>
          <p:nvSpPr>
            <p:cNvPr id="184" name="Google Shape;184;p25"/>
            <p:cNvSpPr/>
            <p:nvPr/>
          </p:nvSpPr>
          <p:spPr>
            <a:xfrm>
              <a:off x="0" y="0"/>
              <a:ext cx="3905400" cy="3048000"/>
            </a:xfrm>
            <a:prstGeom prst="roundRect">
              <a:avLst>
                <a:gd fmla="val 25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" name="Google Shape;185;p25"/>
            <p:cNvSpPr/>
            <p:nvPr/>
          </p:nvSpPr>
          <p:spPr>
            <a:xfrm>
              <a:off x="0" y="0"/>
              <a:ext cx="57300" cy="30480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" name="Google Shape;186;p25"/>
            <p:cNvSpPr txBox="1"/>
            <p:nvPr/>
          </p:nvSpPr>
          <p:spPr>
            <a:xfrm>
              <a:off x="238125" y="238125"/>
              <a:ext cx="3429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40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Desarrollo y Entregables</a:t>
              </a:r>
              <a:endParaRPr b="1" sz="14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95275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050"/>
                <a:buFont typeface="Inter"/>
                <a:buChar char="●"/>
              </a:pPr>
              <a:r>
                <a:rPr b="1" lang="es" sz="10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Repositorio en GitHub:</a:t>
              </a:r>
              <a:r>
                <a:rPr b="0" lang="es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Control de versiones y código fuente del proyecto.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5275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050"/>
                <a:buFont typeface="Inter"/>
                <a:buChar char="●"/>
              </a:pPr>
              <a:r>
                <a:rPr b="1" lang="es" sz="10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Modelo Entidad-Relación:</a:t>
              </a:r>
              <a:r>
                <a:rPr b="0" lang="es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Estructura y diseño de la base de datos.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5275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050"/>
                <a:buFont typeface="Inter"/>
                <a:buChar char="●"/>
              </a:pPr>
              <a:r>
                <a:rPr b="1" lang="es" sz="10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Módulos Funcionales:</a:t>
              </a:r>
              <a:r>
                <a:rPr b="0" lang="es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Implementación del Producto Mínimo Viable (PMV).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/>
          <p:nvPr/>
        </p:nvSpPr>
        <p:spPr>
          <a:xfrm>
            <a:off x="2880600" y="0"/>
            <a:ext cx="6263400" cy="51738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u="sng">
              <a:solidFill>
                <a:srgbClr val="4A86E8"/>
              </a:solidFill>
            </a:endParaRPr>
          </a:p>
        </p:txBody>
      </p:sp>
      <p:sp>
        <p:nvSpPr>
          <p:cNvPr id="193" name="Google Shape;193;p26"/>
          <p:cNvSpPr/>
          <p:nvPr/>
        </p:nvSpPr>
        <p:spPr>
          <a:xfrm>
            <a:off x="0" y="-22234"/>
            <a:ext cx="2880600" cy="51738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26"/>
          <p:cNvSpPr/>
          <p:nvPr/>
        </p:nvSpPr>
        <p:spPr>
          <a:xfrm>
            <a:off x="1843715" y="2331292"/>
            <a:ext cx="582900" cy="582900"/>
          </a:xfrm>
          <a:prstGeom prst="ellipse">
            <a:avLst/>
          </a:prstGeom>
          <a:solidFill>
            <a:srgbClr val="F2A73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26"/>
          <p:cNvSpPr txBox="1"/>
          <p:nvPr/>
        </p:nvSpPr>
        <p:spPr>
          <a:xfrm>
            <a:off x="3125546" y="1802550"/>
            <a:ext cx="19587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mbria"/>
              <a:buNone/>
            </a:pPr>
            <a:r>
              <a:rPr b="1" i="0" lang="es" sz="36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Gracias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6"/>
          <p:cNvSpPr txBox="1"/>
          <p:nvPr/>
        </p:nvSpPr>
        <p:spPr>
          <a:xfrm>
            <a:off x="1785569" y="2451295"/>
            <a:ext cx="65151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FBF9F"/>
              </a:buClr>
              <a:buSzPts val="1200"/>
              <a:buFont typeface="Calibri"/>
              <a:buNone/>
            </a:pPr>
            <a:r>
              <a:rPr b="0" i="1" lang="e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A2D_SM — Sistema de Trazabilidad para Planta Procesadora de Fruta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6"/>
          <p:cNvSpPr txBox="1"/>
          <p:nvPr/>
        </p:nvSpPr>
        <p:spPr>
          <a:xfrm>
            <a:off x="73550" y="4100100"/>
            <a:ext cx="25500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-2921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b="0" i="0" lang="es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Alejandro Rodríguez 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b="0" i="0" lang="es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Diego Carrillo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b="0" i="0" lang="es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Angelo Galindo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ttp://www.duoc.cl/normasgraficas/normasgraficas/marca-duoc/6logo-fondo-transparente/fondo-transparente.png" id="198" name="Google Shape;198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86525" y="205225"/>
            <a:ext cx="2000250" cy="428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