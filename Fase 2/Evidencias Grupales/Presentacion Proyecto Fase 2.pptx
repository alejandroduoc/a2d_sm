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8" r:id="rId10"/>
    <p:sldId id="259" r:id="rId11"/>
    <p:sldId id="260" r:id="rId12"/>
    <p:sldId id="267" r:id="rId39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us Jakarta Sans ExtraBold"/>
      <p:bold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Plus Jakarta Sans Medium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05F727-CFD4-4E81-9CF6-A8E1723FF7CF}">
  <a:tblStyle styleId="{E605F727-CFD4-4E81-9CF6-A8E1723FF7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lusJakartaSans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4.xml"/><Relationship Id="rId33" Type="http://schemas.openxmlformats.org/officeDocument/2006/relationships/font" Target="fonts/PlusJakartaSansMedium-italic.fntdata"/><Relationship Id="rId10" Type="http://schemas.openxmlformats.org/officeDocument/2006/relationships/slide" Target="slides/slide3.xml"/><Relationship Id="rId32" Type="http://schemas.openxmlformats.org/officeDocument/2006/relationships/font" Target="fonts/PlusJakartaSansMedium-bold.fntdata"/><Relationship Id="rId35" Type="http://schemas.openxmlformats.org/officeDocument/2006/relationships/font" Target="fonts/InterMedium-regular.fntdata"/><Relationship Id="rId12" Type="http://schemas.openxmlformats.org/officeDocument/2006/relationships/slide" Target="slides/slide5.xml"/><Relationship Id="rId34" Type="http://schemas.openxmlformats.org/officeDocument/2006/relationships/font" Target="fonts/PlusJakartaSansMedium-boldItalic.fntdata"/><Relationship Id="rId37" Type="http://schemas.openxmlformats.org/officeDocument/2006/relationships/font" Target="fonts/InterMedium-italic.fntdata"/><Relationship Id="rId36" Type="http://schemas.openxmlformats.org/officeDocument/2006/relationships/font" Target="fonts/InterMedium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InterMedium-boldItalic.fntdata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1.xml"/>  <Relationship Id="rId39" Type="http://schemas.openxmlformats.org/officeDocument/2006/relationships/slide" Target="slides/slide1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aee16b2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8aee16b2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aee16b2b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f8aee16b2b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aee16b2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8aee16b2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8aee16b2b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8aee16b2b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aee16b2b_1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8aee16b2b_1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164cdfdb_0_1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4164cdfdb_0_1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4164cdfdb_0_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762000" y="7620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518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A2D SM</a:t>
            </a:r>
            <a:endParaRPr b="0" sz="518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1665">
                <a:solidFill>
                  <a:srgbClr val="0284C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Sistema de trazabilidad para Socradex</a:t>
            </a:r>
            <a:endParaRPr b="0" sz="1665">
              <a:solidFill>
                <a:srgbClr val="0284C7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s" sz="1203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Sumativa 2 · Fase 2 · Octubre 2026</a:t>
            </a:r>
            <a:endParaRPr b="0" sz="1203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58" name="Google Shape;58;p16"/>
          <p:cNvGrpSpPr/>
          <p:nvPr/>
        </p:nvGrpSpPr>
        <p:grpSpPr>
          <a:xfrm>
            <a:off x="762000" y="2952750"/>
            <a:ext cx="3619500" cy="1428900"/>
            <a:chOff x="0" y="0"/>
            <a:chExt cx="3619500" cy="1428900"/>
          </a:xfrm>
        </p:grpSpPr>
        <p:sp>
          <p:nvSpPr>
            <p:cNvPr id="59" name="Google Shape;59;p16"/>
            <p:cNvSpPr/>
            <p:nvPr/>
          </p:nvSpPr>
          <p:spPr>
            <a:xfrm>
              <a:off x="0" y="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6"/>
            <p:cNvSpPr/>
            <p:nvPr/>
          </p:nvSpPr>
          <p:spPr>
            <a:xfrm>
              <a:off x="0" y="0"/>
              <a:ext cx="114300" cy="14289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cubicBezTo>
                    <a:pt x="0" y="4296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5704"/>
                    <a:pt x="0" y="110400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6"/>
            <p:cNvSpPr txBox="1"/>
            <p:nvPr/>
          </p:nvSpPr>
          <p:spPr>
            <a:xfrm>
              <a:off x="228600" y="190500"/>
              <a:ext cx="31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Integrantes del Equipo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Alejandro Rodríguez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Diego Carrillo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Angelo Galindo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2" name="Google Shape;62;p16"/>
          <p:cNvGrpSpPr/>
          <p:nvPr/>
        </p:nvGrpSpPr>
        <p:grpSpPr>
          <a:xfrm>
            <a:off x="4762500" y="2952750"/>
            <a:ext cx="3619500" cy="1428900"/>
            <a:chOff x="0" y="0"/>
            <a:chExt cx="3619500" cy="1428900"/>
          </a:xfrm>
        </p:grpSpPr>
        <p:sp>
          <p:nvSpPr>
            <p:cNvPr id="63" name="Google Shape;63;p16"/>
            <p:cNvSpPr/>
            <p:nvPr/>
          </p:nvSpPr>
          <p:spPr>
            <a:xfrm>
              <a:off x="0" y="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0" y="0"/>
              <a:ext cx="114300" cy="14289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cubicBezTo>
                    <a:pt x="0" y="4296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5704"/>
                    <a:pt x="0" y="110400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6"/>
            <p:cNvSpPr txBox="1"/>
            <p:nvPr/>
          </p:nvSpPr>
          <p:spPr>
            <a:xfrm>
              <a:off x="228600" y="190500"/>
              <a:ext cx="31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Escuela &amp; Carrera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Informática y Telecomunicaciones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Ingeniería en Informática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descr="http://www.duoc.cl/normasgraficas/normasgraficas/marca-duoc/6logo-fondo-transparente/fondo-transparente.png" id="66" name="Google Shape;6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525" y="205225"/>
            <a:ext cx="2000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problema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18"/>
          <p:cNvSpPr txBox="1"/>
          <p:nvPr/>
        </p:nvSpPr>
        <p:spPr>
          <a:xfrm>
            <a:off x="476250" y="952500"/>
            <a:ext cx="3905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 sistema legado que pone en riesgo a la planta</a:t>
            </a:r>
            <a:endParaRPr b="0" sz="1200">
              <a:solidFill>
                <a:srgbClr val="0284C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9" name="Google Shape;79;p18"/>
          <p:cNvGrpSpPr/>
          <p:nvPr/>
        </p:nvGrpSpPr>
        <p:grpSpPr>
          <a:xfrm>
            <a:off x="476250" y="1333500"/>
            <a:ext cx="3905400" cy="1047900"/>
            <a:chOff x="0" y="0"/>
            <a:chExt cx="3905400" cy="1047900"/>
          </a:xfrm>
        </p:grpSpPr>
        <p:sp>
          <p:nvSpPr>
            <p:cNvPr id="80" name="Google Shape;80;p1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8"/>
            <p:cNvSpPr txBox="1"/>
            <p:nvPr/>
          </p:nvSpPr>
          <p:spPr>
            <a:xfrm>
              <a:off x="190500" y="9525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Sistema legado Socradex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Escritorio en VB.NET 2008 y PHP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Clientes conectados directo a la base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Consultas expuestas a inyección SQL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" name="Google Shape;83;p18"/>
          <p:cNvGrpSpPr/>
          <p:nvPr/>
        </p:nvGrpSpPr>
        <p:grpSpPr>
          <a:xfrm>
            <a:off x="476250" y="2524125"/>
            <a:ext cx="3905400" cy="904800"/>
            <a:chOff x="0" y="0"/>
            <a:chExt cx="3905400" cy="904800"/>
          </a:xfrm>
        </p:grpSpPr>
        <p:sp>
          <p:nvSpPr>
            <p:cNvPr id="84" name="Google Shape;84;p18"/>
            <p:cNvSpPr/>
            <p:nvPr/>
          </p:nvSpPr>
          <p:spPr>
            <a:xfrm>
              <a:off x="0" y="0"/>
              <a:ext cx="39054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0" y="0"/>
              <a:ext cx="57300" cy="9048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8"/>
            <p:cNvSpPr txBox="1"/>
            <p:nvPr/>
          </p:nvSpPr>
          <p:spPr>
            <a:xfrm>
              <a:off x="190500" y="9525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Riesgos para la planta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Contraseñas en texto plano y sin auditoría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Números de tarja que se pueden repetir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8"/>
          <p:cNvGrpSpPr/>
          <p:nvPr/>
        </p:nvGrpSpPr>
        <p:grpSpPr>
          <a:xfrm>
            <a:off x="476250" y="3619500"/>
            <a:ext cx="8191500" cy="1047900"/>
            <a:chOff x="0" y="0"/>
            <a:chExt cx="8191500" cy="1047900"/>
          </a:xfrm>
        </p:grpSpPr>
        <p:sp>
          <p:nvSpPr>
            <p:cNvPr id="88" name="Google Shape;88;p18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190500" y="114300"/>
              <a:ext cx="78105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Por qué importa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 planta registra en este sistema la recepción y el procesamiento de la fruta. Un error o un ataque puede alterar kilos y tarjas sin dejar rastro, y la modernización no puede detener la producción.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2" y="1046875"/>
            <a:ext cx="4021800" cy="223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producto: A2D SM, web en 3 capas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7" name="Google Shape;97;p19"/>
          <p:cNvGrpSpPr/>
          <p:nvPr/>
        </p:nvGrpSpPr>
        <p:grpSpPr>
          <a:xfrm>
            <a:off x="381000" y="1238250"/>
            <a:ext cx="1952700" cy="3238500"/>
            <a:chOff x="0" y="0"/>
            <a:chExt cx="1952700" cy="3238500"/>
          </a:xfrm>
        </p:grpSpPr>
        <p:sp>
          <p:nvSpPr>
            <p:cNvPr id="98" name="Google Shape;98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E1 · Autenticación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Login con JWT y 4 roles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Gestión de usuarios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Permisos por rol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9"/>
          <p:cNvGrpSpPr/>
          <p:nvPr/>
        </p:nvGrpSpPr>
        <p:grpSpPr>
          <a:xfrm>
            <a:off x="2524125" y="1238250"/>
            <a:ext cx="1952700" cy="3238500"/>
            <a:chOff x="0" y="0"/>
            <a:chExt cx="1952700" cy="3238500"/>
          </a:xfrm>
        </p:grpSpPr>
        <p:sp>
          <p:nvSpPr>
            <p:cNvPr id="102" name="Google Shape;102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E2 · Maestros core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Productores con RUT validado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Catálogos de la planta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Auditoría automática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9"/>
          <p:cNvGrpSpPr/>
          <p:nvPr/>
        </p:nvGrpSpPr>
        <p:grpSpPr>
          <a:xfrm>
            <a:off x="4667250" y="1238250"/>
            <a:ext cx="1952700" cy="3238500"/>
            <a:chOff x="0" y="0"/>
            <a:chExt cx="1952700" cy="3238500"/>
          </a:xfrm>
        </p:grpSpPr>
        <p:sp>
          <p:nvSpPr>
            <p:cNvPr id="106" name="Google Shape;106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E3 · Recepción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Tarja numerada sin duplicados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Cálculo de kilos netos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Stock de bandejas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" name="Google Shape;109;p19"/>
          <p:cNvGrpSpPr/>
          <p:nvPr/>
        </p:nvGrpSpPr>
        <p:grpSpPr>
          <a:xfrm>
            <a:off x="6810375" y="1238250"/>
            <a:ext cx="1952700" cy="3238500"/>
            <a:chOff x="0" y="0"/>
            <a:chExt cx="1952700" cy="3238500"/>
          </a:xfrm>
        </p:grpSpPr>
        <p:sp>
          <p:nvSpPr>
            <p:cNvPr id="110" name="Google Shape;110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119275" y="723900"/>
              <a:ext cx="17640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E4 · Procesamiento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Consumo parcial de tarjas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Rendimiento y merma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Trazabilidad por tarja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.png"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7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642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4650" y="1392717"/>
            <a:ext cx="459600" cy="45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0078" y="15143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550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3050" y="15143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0725" y="14683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2425" y="146831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0"/>
          <p:cNvGrpSpPr/>
          <p:nvPr/>
        </p:nvGrpSpPr>
        <p:grpSpPr>
          <a:xfrm>
            <a:off x="476250" y="381000"/>
            <a:ext cx="8191500" cy="571500"/>
            <a:chOff x="0" y="0"/>
            <a:chExt cx="8191500" cy="571500"/>
          </a:xfrm>
        </p:grpSpPr>
        <p:sp>
          <p:nvSpPr>
            <p:cNvPr id="126" name="Google Shape;126;p20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Vínculo con el perfil de egreso</a:t>
              </a:r>
              <a:endParaRPr b="1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28" name="Google Shape;128;p20"/>
          <p:cNvGrpSpPr/>
          <p:nvPr/>
        </p:nvGrpSpPr>
        <p:grpSpPr>
          <a:xfrm>
            <a:off x="476250" y="1238250"/>
            <a:ext cx="3905400" cy="3238500"/>
            <a:chOff x="0" y="0"/>
            <a:chExt cx="3905400" cy="3238500"/>
          </a:xfrm>
        </p:grpSpPr>
        <p:sp>
          <p:nvSpPr>
            <p:cNvPr id="129" name="Google Shape;129;p20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 txBox="1"/>
            <p:nvPr/>
          </p:nvSpPr>
          <p:spPr>
            <a:xfrm>
              <a:off x="151625" y="238050"/>
              <a:ext cx="3574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Competencias del perfil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Gestionar proyectos con metodologías ágiles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Diseñar arquitecturas y modelos de datos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Implementar autenticación y control de acceso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Realizar pruebas funcionales y de seguridad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2" name="Google Shape;132;p20"/>
          <p:cNvGrpSpPr/>
          <p:nvPr/>
        </p:nvGrpSpPr>
        <p:grpSpPr>
          <a:xfrm>
            <a:off x="4762500" y="1238250"/>
            <a:ext cx="3905400" cy="3238500"/>
            <a:chOff x="0" y="0"/>
            <a:chExt cx="3905400" cy="3238500"/>
          </a:xfrm>
        </p:grpSpPr>
        <p:sp>
          <p:nvSpPr>
            <p:cNvPr id="133" name="Google Shape;133;p20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Cómo lo evidencia A2D SM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Scrum, Poker Planning y Carta Gantt: 4 épicas, 84 SP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Arquitectura React · FastAPI · SQL Server en Docker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JWT, bcrypt y permisos por rol en cada petición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46 pruebas aprobadas en la Épica 1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y avance</a:t>
            </a:r>
            <a:endParaRPr/>
          </a:p>
        </p:txBody>
      </p:sp>
      <p:graphicFrame>
        <p:nvGraphicFramePr>
          <p:cNvPr id="172" name="Google Shape;172;p24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{E605F727-CFD4-4E81-9CF6-A8E1723FF7CF}</a:tableStyleId>
              </a:tblPr>
              <a:tblGrid>
                <a:gridCol w="2556175"/>
                <a:gridCol w="1022475"/>
                <a:gridCol w="1363300"/>
                <a:gridCol w="35786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Actividad (Carta Gantt)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Responsable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Estado al 17/10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Definición del Proyecto APT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S1–S4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Terminada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Modelo E-R y arquitectura base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S5–S6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Diego Carrillo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Terminada; modelo rediseñado el 04/10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E1: Autenticación y RBAC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S7–S8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Terminada el 04/10 (S6); menú por rol parcial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E2: Maestros core</a:t>
                      </a:r>
                      <a:r>
                        <a:rPr b="1" lang="es" sz="8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/>
                      </a: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/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S9–S10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 asignar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Inicia el 19/10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E3: Recepción de tarjas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S11–S12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 asignar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Planificada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E4: Procesamiento y auditoría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S13–S14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 asignar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Planificada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Pruebas funcionales y no funcionales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S15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Angelo Galindo (QA)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Planificada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Cierre y entrega final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S16–S18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Planificada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476250" y="3810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a la fecha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476250" y="904875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Semana S8 (17/10/2026): Épica 1 terminada y documentación de Fase 2 completa.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9" name="Google Shape;179;p25"/>
          <p:cNvGrpSpPr/>
          <p:nvPr/>
        </p:nvGrpSpPr>
        <p:grpSpPr>
          <a:xfrm>
            <a:off x="476250" y="1381125"/>
            <a:ext cx="3905400" cy="3048000"/>
            <a:chOff x="0" y="0"/>
            <a:chExt cx="3905400" cy="3048000"/>
          </a:xfrm>
        </p:grpSpPr>
        <p:sp>
          <p:nvSpPr>
            <p:cNvPr id="180" name="Google Shape;180;p25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5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Producto: Épica 1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Backend: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 xml:space="preserve"> login con JWT, 4 roles y gestión de usuarios.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Frontend: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 xml:space="preserve"> React con sesión persistente y rutas protegidas.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Entorno: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 xml:space="preserve"> sistema completo en Docker, con migraciones.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3" name="Google Shape;183;p25"/>
          <p:cNvGrpSpPr/>
          <p:nvPr/>
        </p:nvGrpSpPr>
        <p:grpSpPr>
          <a:xfrm>
            <a:off x="4762500" y="1381125"/>
            <a:ext cx="3905400" cy="3048000"/>
            <a:chOff x="0" y="0"/>
            <a:chExt cx="3905400" cy="3048000"/>
          </a:xfrm>
        </p:grpSpPr>
        <p:sp>
          <p:nvSpPr>
            <p:cNvPr id="184" name="Google Shape;184;p25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Pruebas y documentación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Pruebas: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 xml:space="preserve"> 46 aprobadas (15 HTTP, 14 automáticas y 17 de QA).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Documentos: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 xml:space="preserve"> Vision, Backlog, Sprint Backlog, DoD y Diseño.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Siguiente paso: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 xml:space="preserve"> E2 desde el 19/10, según la Carta Gantt.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2880600" y="0"/>
            <a:ext cx="6263400" cy="5173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4A86E8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0" y="-22234"/>
            <a:ext cx="2880600" cy="5173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1843715" y="2331292"/>
            <a:ext cx="582900" cy="582900"/>
          </a:xfrm>
          <a:prstGeom prst="ellipse">
            <a:avLst/>
          </a:prstGeom>
          <a:solidFill>
            <a:srgbClr val="F2A7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3125546" y="1802550"/>
            <a:ext cx="195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1785569" y="2451295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F9F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A2D_SM — Sistema de Trazabilidad para Planta Procesadora de Fruta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73550" y="4100100"/>
            <a:ext cx="2550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Alejandro Rodríguez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Diego Carrillo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Angelo Galindo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duoc.cl/normasgraficas/normasgraficas/marca-duoc/6logo-fondo-transparente/fondo-transparente.png" id="198" name="Google Shape;1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525" y="205225"/>
            <a:ext cx="2000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Nuestro desarrollo profesional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7" name="Google Shape;97;p19"/>
          <p:cNvGrpSpPr/>
          <p:nvPr/>
        </p:nvGrpSpPr>
        <p:grpSpPr>
          <a:xfrm>
            <a:off x="381000" y="1238250"/>
            <a:ext cx="1952700" cy="3238500"/>
            <a:chOff x="0" y="0"/>
            <a:chExt cx="1952700" cy="3238500"/>
          </a:xfrm>
        </p:grpSpPr>
        <p:sp>
          <p:nvSpPr>
            <p:cNvPr id="98" name="Google Shape;98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Alejandro · PM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Diseño de software y resolución de problemas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Gestión del proyecto con Scrum y Git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Proyección: QA, ciberseguridad o desarrollo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9"/>
          <p:cNvGrpSpPr/>
          <p:nvPr/>
        </p:nvGrpSpPr>
        <p:grpSpPr>
          <a:xfrm>
            <a:off x="2524125" y="1238250"/>
            <a:ext cx="1952700" cy="3238500"/>
            <a:chOff x="0" y="0"/>
            <a:chExt cx="1952700" cy="3238500"/>
          </a:xfrm>
        </p:grpSpPr>
        <p:sp>
          <p:nvSpPr>
            <p:cNvPr id="102" name="Google Shape;102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Diego · Base de datos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Bases de datos y soporte aplicativo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Análisis de requerimientos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Aprender un negocio nuevo: trazabilidad de fruta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9"/>
          <p:cNvGrpSpPr/>
          <p:nvPr/>
        </p:nvGrpSpPr>
        <p:grpSpPr>
          <a:xfrm>
            <a:off x="4667250" y="1238250"/>
            <a:ext cx="1952700" cy="3238500"/>
            <a:chOff x="0" y="0"/>
            <a:chExt cx="1952700" cy="3238500"/>
          </a:xfrm>
        </p:grpSpPr>
        <p:sp>
          <p:nvSpPr>
            <p:cNvPr id="106" name="Google Shape;106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Angelo · QA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Aseguramiento de calidad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Pruebas de APIs, permisos y seguridad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Proyección: QA Tester y automatización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" name="Google Shape;109;p19"/>
          <p:cNvGrpSpPr/>
          <p:nvPr/>
        </p:nvGrpSpPr>
        <p:grpSpPr>
          <a:xfrm>
            <a:off x="6810375" y="1238250"/>
            <a:ext cx="1952700" cy="3238500"/>
            <a:chOff x="0" y="0"/>
            <a:chExt cx="1952700" cy="3238500"/>
          </a:xfrm>
        </p:grpSpPr>
        <p:sp>
          <p:nvSpPr>
            <p:cNvPr id="110" name="Google Shape;110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119275" y="723900"/>
              <a:ext cx="17640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Como equipo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Proyecto industrial real, no simulado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Trabajo ágil con Scrum y Git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Decisiones con fecha y motivo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.png"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7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642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4650" y="1392717"/>
            <a:ext cx="459600" cy="45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0078" y="15143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550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3050" y="15143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0725" y="14683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2425" y="146831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