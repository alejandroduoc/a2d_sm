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3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Master+xml" PartName="/ppt/slideMasters/slideMaster2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theme+xml" PartName="/ppt/theme/theme3.xml"/>
  <Override ContentType="application/vnd.openxmlformats-officedocument.presentationml.viewProps+xml" PartName="/ppt/viewProps.xml"/>
  <Override PartName="/ppt/slides/slide12.xml" ContentType="application/vnd.openxmlformats-officedocument.presentationml.slide+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61" r:id="rId5"/>
    <p:sldMasterId id="2147483662" r:id="rId6"/>
  </p:sldMasterIdLst>
  <p:notesMasterIdLst>
    <p:notesMasterId r:id="rId7"/>
  </p:notesMasterIdLst>
  <p:sldIdLst>
    <p:sldId id="256" r:id="rId8"/>
    <p:sldId id="258" r:id="rId10"/>
    <p:sldId id="259" r:id="rId11"/>
    <p:sldId id="260" r:id="rId12"/>
    <p:sldId id="267" r:id="rId39"/>
    <p:sldId id="264" r:id="rId16"/>
    <p:sldId id="265" r:id="rId17"/>
    <p:sldId id="266" r:id="rId18"/>
  </p:sldIdLst>
  <p:sldSz cy="5143500" cx="9144000"/>
  <p:notesSz cx="6858000" cy="9144000"/>
  <p:embeddedFontLst>
    <p:embeddedFont>
      <p:font typeface="Plus Jakarta Sans ExtraBold"/>
      <p:bold r:id="rId19"/>
      <p:boldItalic r:id="rId20"/>
    </p:embeddedFont>
    <p:embeddedFont>
      <p:font typeface="Inter SemiBold"/>
      <p:regular r:id="rId21"/>
      <p:bold r:id="rId22"/>
      <p:italic r:id="rId23"/>
      <p:boldItalic r:id="rId24"/>
    </p:embeddedFont>
    <p:embeddedFont>
      <p:font typeface="Plus Jakarta Sans"/>
      <p:regular r:id="rId25"/>
      <p:bold r:id="rId26"/>
      <p:italic r:id="rId27"/>
      <p:boldItalic r:id="rId28"/>
    </p:embeddedFont>
    <p:embeddedFont>
      <p:font typeface="Inter"/>
      <p:bold r:id="rId29"/>
      <p:boldItalic r:id="rId30"/>
    </p:embeddedFont>
    <p:embeddedFont>
      <p:font typeface="Plus Jakarta Sans Medium"/>
      <p:regular r:id="rId31"/>
      <p:bold r:id="rId32"/>
      <p:italic r:id="rId33"/>
      <p:boldItalic r:id="rId34"/>
    </p:embeddedFont>
    <p:embeddedFont>
      <p:font typeface="Inter Medium"/>
      <p:regular r:id="rId35"/>
      <p:bold r:id="rId36"/>
      <p:italic r:id="rId37"/>
      <p:boldItalic r:id="rId38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E605F727-CFD4-4E81-9CF6-A8E1723FF7CF}">
  <a:tblStyle styleId="{E605F727-CFD4-4E81-9CF6-A8E1723FF7CF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"1.0" encoding="utf-8"?><Relationships xmlns="http://schemas.openxmlformats.org/package/2006/relationships"><Relationship Id="rId20" Type="http://schemas.openxmlformats.org/officeDocument/2006/relationships/font" Target="fonts/PlusJakartaSansExtraBold-boldItalic.fntdata"/><Relationship Id="rId22" Type="http://schemas.openxmlformats.org/officeDocument/2006/relationships/font" Target="fonts/InterSemiBold-bold.fntdata"/><Relationship Id="rId21" Type="http://schemas.openxmlformats.org/officeDocument/2006/relationships/font" Target="fonts/InterSemiBold-regular.fntdata"/><Relationship Id="rId24" Type="http://schemas.openxmlformats.org/officeDocument/2006/relationships/font" Target="fonts/InterSemiBold-boldItalic.fntdata"/><Relationship Id="rId23" Type="http://schemas.openxmlformats.org/officeDocument/2006/relationships/font" Target="fonts/InterSemiBold-italic.fntdata"/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tableStyles" Target="tableStyles.xml"/><Relationship Id="rId26" Type="http://schemas.openxmlformats.org/officeDocument/2006/relationships/font" Target="fonts/PlusJakartaSans-bold.fntdata"/><Relationship Id="rId25" Type="http://schemas.openxmlformats.org/officeDocument/2006/relationships/font" Target="fonts/PlusJakartaSans-regular.fntdata"/><Relationship Id="rId28" Type="http://schemas.openxmlformats.org/officeDocument/2006/relationships/font" Target="fonts/PlusJakartaSans-boldItalic.fntdata"/><Relationship Id="rId27" Type="http://schemas.openxmlformats.org/officeDocument/2006/relationships/font" Target="fonts/PlusJakartaSans-italic.fntdata"/><Relationship Id="rId5" Type="http://schemas.openxmlformats.org/officeDocument/2006/relationships/slideMaster" Target="slideMasters/slideMaster1.xml"/><Relationship Id="rId6" Type="http://schemas.openxmlformats.org/officeDocument/2006/relationships/slideMaster" Target="slideMasters/slideMaster2.xml"/><Relationship Id="rId29" Type="http://schemas.openxmlformats.org/officeDocument/2006/relationships/font" Target="fonts/Inter-bold.fntdata"/><Relationship Id="rId7" Type="http://schemas.openxmlformats.org/officeDocument/2006/relationships/notesMaster" Target="notesMasters/notesMaster1.xml"/><Relationship Id="rId8" Type="http://schemas.openxmlformats.org/officeDocument/2006/relationships/slide" Target="slides/slide1.xml"/><Relationship Id="rId31" Type="http://schemas.openxmlformats.org/officeDocument/2006/relationships/font" Target="fonts/PlusJakartaSansMedium-regular.fntdata"/><Relationship Id="rId30" Type="http://schemas.openxmlformats.org/officeDocument/2006/relationships/font" Target="fonts/Inter-boldItalic.fntdata"/><Relationship Id="rId11" Type="http://schemas.openxmlformats.org/officeDocument/2006/relationships/slide" Target="slides/slide4.xml"/><Relationship Id="rId33" Type="http://schemas.openxmlformats.org/officeDocument/2006/relationships/font" Target="fonts/PlusJakartaSansMedium-italic.fntdata"/><Relationship Id="rId10" Type="http://schemas.openxmlformats.org/officeDocument/2006/relationships/slide" Target="slides/slide3.xml"/><Relationship Id="rId32" Type="http://schemas.openxmlformats.org/officeDocument/2006/relationships/font" Target="fonts/PlusJakartaSansMedium-bold.fntdata"/><Relationship Id="rId35" Type="http://schemas.openxmlformats.org/officeDocument/2006/relationships/font" Target="fonts/InterMedium-regular.fntdata"/><Relationship Id="rId12" Type="http://schemas.openxmlformats.org/officeDocument/2006/relationships/slide" Target="slides/slide5.xml"/><Relationship Id="rId34" Type="http://schemas.openxmlformats.org/officeDocument/2006/relationships/font" Target="fonts/PlusJakartaSansMedium-boldItalic.fntdata"/><Relationship Id="rId37" Type="http://schemas.openxmlformats.org/officeDocument/2006/relationships/font" Target="fonts/InterMedium-italic.fntdata"/><Relationship Id="rId36" Type="http://schemas.openxmlformats.org/officeDocument/2006/relationships/font" Target="fonts/InterMedium-bold.fntdata"/><Relationship Id="rId17" Type="http://schemas.openxmlformats.org/officeDocument/2006/relationships/slide" Target="slides/slide10.xml"/><Relationship Id="rId16" Type="http://schemas.openxmlformats.org/officeDocument/2006/relationships/slide" Target="slides/slide9.xml"/><Relationship Id="rId38" Type="http://schemas.openxmlformats.org/officeDocument/2006/relationships/font" Target="fonts/InterMedium-boldItalic.fntdata"/><Relationship Id="rId19" Type="http://schemas.openxmlformats.org/officeDocument/2006/relationships/font" Target="fonts/PlusJakartaSansExtraBold-bold.fntdata"/><Relationship Id="rId18" Type="http://schemas.openxmlformats.org/officeDocument/2006/relationships/slide" Target="slides/slide11.xml"/>  <Relationship Id="rId39" Type="http://schemas.openxmlformats.org/officeDocument/2006/relationships/slide" Target="slides/slide12.xml"/>
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9845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9845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9845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9845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9845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9845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9845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g3f8aee16b2b_1_3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5" name="Google Shape;55;g3f8aee16b2b_1_3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3" name="Shape 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Google Shape;74;g3f8aee16b2b_1_9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5" name="Google Shape;75;g3f8aee16b2b_1_9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g3f8aee16b2b_1_15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g3f8aee16b2b_1_15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1" name="Shape 1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Google Shape;122;g3f8aee16b2b_1_23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3" name="Google Shape;123;g3f8aee16b2b_1_23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69" name="Google Shape;169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g3f8aee16b2b_1_40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75" name="Google Shape;175;g3f8aee16b2b_1_40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g3f4164cdfdb_0_15:notes"/>
          <p:cNvSpPr/>
          <p:nvPr>
            <p:ph idx="2" type="sldImg"/>
          </p:nvPr>
        </p:nvSpPr>
        <p:spPr>
          <a:xfrm>
            <a:off x="685800" y="857250"/>
            <a:ext cx="5486400" cy="23145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89" name="Google Shape;189;g3f4164cdfdb_0_15:notes"/>
          <p:cNvSpPr txBox="1"/>
          <p:nvPr>
            <p:ph idx="1" type="body"/>
          </p:nvPr>
        </p:nvSpPr>
        <p:spPr>
          <a:xfrm>
            <a:off x="685800" y="3300413"/>
            <a:ext cx="5486400" cy="27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g3f4164cdfdb_0_15:notes"/>
          <p:cNvSpPr txBox="1"/>
          <p:nvPr>
            <p:ph idx="12" type="sldNum"/>
          </p:nvPr>
        </p:nvSpPr>
        <p:spPr>
          <a:xfrm>
            <a:off x="3884613" y="6513910"/>
            <a:ext cx="2971800" cy="3441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‹#›</a:t>
            </a:fld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EFAULT">
  <p:cSld name="DEFAULT">
    <p:bg>
      <p:bgPr>
        <a:solidFill>
          <a:schemeClr val="lt1"/>
        </a:solidFill>
      </p:bgPr>
    </p:bg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EFAULT">
  <p:cSld name="DEFAULT">
    <p:bg>
      <p:bgPr>
        <a:solidFill>
          <a:schemeClr val="lt1"/>
        </a:solidFill>
      </p:bgPr>
    </p:bg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_rels/slideMaster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1" name="Shape 51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660" r:id="rId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7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png"/><Relationship Id="rId4" Type="http://schemas.openxmlformats.org/officeDocument/2006/relationships/image" Target="../media/image3.png"/><Relationship Id="rId5" Type="http://schemas.openxmlformats.org/officeDocument/2006/relationships/image" Target="../media/image10.png"/><Relationship Id="rId6" Type="http://schemas.openxmlformats.org/officeDocument/2006/relationships/image" Target="../media/image5.png"/><Relationship Id="rId7" Type="http://schemas.openxmlformats.org/officeDocument/2006/relationships/image" Target="../media/image9.png"/><Relationship Id="rId8" Type="http://schemas.openxmlformats.org/officeDocument/2006/relationships/image" Target="../media/image6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.png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3" Type="http://schemas.openxmlformats.org/officeDocument/2006/relationships/image" Target="../media/image4.png"/><Relationship Id="rId4" Type="http://schemas.openxmlformats.org/officeDocument/2006/relationships/image" Target="../media/image3.png"/><Relationship Id="rId5" Type="http://schemas.openxmlformats.org/officeDocument/2006/relationships/image" Target="../media/image10.png"/><Relationship Id="rId6" Type="http://schemas.openxmlformats.org/officeDocument/2006/relationships/image" Target="../media/image5.png"/><Relationship Id="rId7" Type="http://schemas.openxmlformats.org/officeDocument/2006/relationships/image" Target="../media/image9.png"/><Relationship Id="rId8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6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p16"/>
          <p:cNvSpPr txBox="1"/>
          <p:nvPr/>
        </p:nvSpPr>
        <p:spPr>
          <a:xfrm>
            <a:off x="762000" y="762000"/>
            <a:ext cx="7620000" cy="14289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s" sz="5180">
                <a:solidFill>
                  <a:srgbClr val="0F172A"/>
                </a:solidFill>
                <a:latin typeface="Plus Jakarta Sans ExtraBold"/>
                <a:ea typeface="Plus Jakarta Sans ExtraBold"/>
                <a:cs typeface="Plus Jakarta Sans ExtraBold"/>
                <a:sym typeface="Plus Jakarta Sans ExtraBold"/>
              </a:rPr>
              <a:t>A2D SM</a:t>
            </a:r>
            <a:endParaRPr b="0" sz="5180">
              <a:solidFill>
                <a:srgbClr val="0F172A"/>
              </a:solidFill>
              <a:latin typeface="Plus Jakarta Sans ExtraBold"/>
              <a:ea typeface="Plus Jakarta Sans ExtraBold"/>
              <a:cs typeface="Plus Jakarta Sans ExtraBold"/>
              <a:sym typeface="Plus Jakarta Sans ExtraBold"/>
            </a:endParaRPr>
          </a:p>
          <a:p>
            <a:pPr indent="0" lvl="0" marL="0" rtl="0" algn="l">
              <a:spcBef>
                <a:spcPts val="750"/>
              </a:spcBef>
              <a:spcAft>
                <a:spcPts val="0"/>
              </a:spcAft>
              <a:buNone/>
            </a:pPr>
            <a:r>
              <a:rPr b="0" lang="es" sz="1665">
                <a:solidFill>
                  <a:srgbClr val="0284C7"/>
                </a:solidFill>
                <a:latin typeface="Plus Jakarta Sans Medium"/>
                <a:ea typeface="Plus Jakarta Sans Medium"/>
                <a:cs typeface="Plus Jakarta Sans Medium"/>
                <a:sym typeface="Plus Jakarta Sans Medium"/>
              </a:rPr>
              <a:t>Sistema de trazabilidad para Socradex</a:t>
            </a:r>
            <a:endParaRPr b="0" sz="1665">
              <a:solidFill>
                <a:srgbClr val="0284C7"/>
              </a:solidFill>
              <a:latin typeface="Plus Jakarta Sans Medium"/>
              <a:ea typeface="Plus Jakarta Sans Medium"/>
              <a:cs typeface="Plus Jakarta Sans Medium"/>
              <a:sym typeface="Plus Jakarta Sans Medium"/>
            </a:endParaRPr>
          </a:p>
          <a:p>
            <a:pPr indent="0" lvl="0" marL="0" rtl="0" algn="l">
              <a:spcBef>
                <a:spcPts val="150"/>
              </a:spcBef>
              <a:spcAft>
                <a:spcPts val="0"/>
              </a:spcAft>
              <a:buNone/>
            </a:pPr>
            <a:r>
              <a:rPr b="0" lang="es" sz="1203">
                <a:solidFill>
                  <a:srgbClr val="64748B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Evaluación Sumativa 2 · Fase 2 · Octubre 2026</a:t>
            </a:r>
            <a:endParaRPr b="0" sz="1203">
              <a:solidFill>
                <a:srgbClr val="64748B"/>
              </a:solidFill>
              <a:latin typeface="Plus Jakarta Sans"/>
              <a:ea typeface="Plus Jakarta Sans"/>
              <a:cs typeface="Plus Jakarta Sans"/>
              <a:sym typeface="Plus Jakarta Sans"/>
            </a:endParaRPr>
          </a:p>
        </p:txBody>
      </p:sp>
      <p:grpSp>
        <p:nvGrpSpPr>
          <p:cNvPr id="58" name="Google Shape;58;p16"/>
          <p:cNvGrpSpPr/>
          <p:nvPr/>
        </p:nvGrpSpPr>
        <p:grpSpPr>
          <a:xfrm>
            <a:off x="762000" y="2952750"/>
            <a:ext cx="3619500" cy="1428900"/>
            <a:chOff x="0" y="0"/>
            <a:chExt cx="3619500" cy="1428900"/>
          </a:xfrm>
        </p:grpSpPr>
        <p:sp>
          <p:nvSpPr>
            <p:cNvPr id="59" name="Google Shape;59;p16"/>
            <p:cNvSpPr/>
            <p:nvPr/>
          </p:nvSpPr>
          <p:spPr>
            <a:xfrm>
              <a:off x="0" y="0"/>
              <a:ext cx="3619500" cy="1428900"/>
            </a:xfrm>
            <a:prstGeom prst="roundRect">
              <a:avLst>
                <a:gd fmla="val 8000" name="adj"/>
              </a:avLst>
            </a:prstGeom>
            <a:solidFill>
              <a:srgbClr val="FFFFFF"/>
            </a:solidFill>
            <a:ln cap="flat" cmpd="sng" w="9525">
              <a:solidFill>
                <a:srgbClr val="E2E8F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0" name="Google Shape;60;p16"/>
            <p:cNvSpPr/>
            <p:nvPr/>
          </p:nvSpPr>
          <p:spPr>
            <a:xfrm>
              <a:off x="0" y="0"/>
              <a:ext cx="114300" cy="1428900"/>
            </a:xfrm>
            <a:custGeom>
              <a:rect b="b" l="l" r="r" t="t"/>
              <a:pathLst>
                <a:path extrusionOk="0" h="120000" w="120000">
                  <a:moveTo>
                    <a:pt x="0" y="9600"/>
                  </a:moveTo>
                  <a:cubicBezTo>
                    <a:pt x="0" y="4296"/>
                    <a:pt x="53700" y="0"/>
                    <a:pt x="120000" y="0"/>
                  </a:cubicBezTo>
                  <a:lnTo>
                    <a:pt x="120000" y="120000"/>
                  </a:lnTo>
                  <a:cubicBezTo>
                    <a:pt x="53700" y="120000"/>
                    <a:pt x="0" y="115704"/>
                    <a:pt x="0" y="110400"/>
                  </a:cubicBezTo>
                  <a:close/>
                </a:path>
              </a:pathLst>
            </a:custGeom>
            <a:solidFill>
              <a:srgbClr val="0284C7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1" name="Google Shape;61;p16"/>
            <p:cNvSpPr txBox="1"/>
            <p:nvPr/>
          </p:nvSpPr>
          <p:spPr>
            <a:xfrm>
              <a:off x="228600" y="190500"/>
              <a:ext cx="3162300" cy="1047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s" sz="1100">
                  <a:solidFill>
                    <a:srgbClr val="0F172A"/>
                  </a:solidFill>
                  <a:latin typeface="Inter"/>
                  <a:ea typeface="Inter"/>
                  <a:cs typeface="Inter"/>
                  <a:sym typeface="Inter"/>
                </a:rPr>
                <a:t>Integrantes del Equipo</a:t>
              </a:r>
              <a:endParaRPr>
                <a:latin typeface="Inter"/>
                <a:ea typeface="Inter"/>
                <a:cs typeface="Inter"/>
                <a:sym typeface="Inter"/>
              </a:endParaRPr>
            </a:p>
            <a:p>
              <a:pPr indent="0" lvl="0" marL="0" rtl="0" algn="l">
                <a:spcBef>
                  <a:spcPts val="150"/>
                </a:spcBef>
                <a:spcAft>
                  <a:spcPts val="0"/>
                </a:spcAft>
                <a:buNone/>
              </a:pPr>
              <a:r>
                <a:rPr b="0" lang="es" sz="1200">
                  <a:solidFill>
                    <a:srgbClr val="475569"/>
                  </a:solidFill>
                  <a:latin typeface="Inter Medium"/>
                  <a:ea typeface="Inter Medium"/>
                  <a:cs typeface="Inter Medium"/>
                  <a:sym typeface="Inter Medium"/>
                </a:rPr>
                <a:t>Alejandro Rodríguez</a:t>
              </a:r>
              <a:endParaRPr b="0" sz="1200">
                <a:solidFill>
                  <a:srgbClr val="475569"/>
                </a:solidFill>
                <a:latin typeface="Inter Medium"/>
                <a:ea typeface="Inter Medium"/>
                <a:cs typeface="Inter Medium"/>
                <a:sym typeface="Inter Medium"/>
              </a:endParaRPr>
            </a:p>
            <a:p>
              <a:pPr indent="0" lvl="0" marL="0" rtl="0" algn="l">
                <a:spcBef>
                  <a:spcPts val="150"/>
                </a:spcBef>
                <a:spcAft>
                  <a:spcPts val="0"/>
                </a:spcAft>
                <a:buNone/>
              </a:pPr>
              <a:r>
                <a:rPr b="0" lang="es" sz="1200">
                  <a:solidFill>
                    <a:srgbClr val="475569"/>
                  </a:solidFill>
                  <a:latin typeface="Inter Medium"/>
                  <a:ea typeface="Inter Medium"/>
                  <a:cs typeface="Inter Medium"/>
                  <a:sym typeface="Inter Medium"/>
                </a:rPr>
                <a:t>Diego Carrillo</a:t>
              </a:r>
              <a:endParaRPr b="0" sz="1200">
                <a:solidFill>
                  <a:srgbClr val="475569"/>
                </a:solidFill>
                <a:latin typeface="Inter Medium"/>
                <a:ea typeface="Inter Medium"/>
                <a:cs typeface="Inter Medium"/>
                <a:sym typeface="Inter Medium"/>
              </a:endParaRPr>
            </a:p>
            <a:p>
              <a:pPr indent="0" lvl="0" marL="0" rtl="0" algn="l">
                <a:spcBef>
                  <a:spcPts val="150"/>
                </a:spcBef>
                <a:spcAft>
                  <a:spcPts val="150"/>
                </a:spcAft>
                <a:buNone/>
              </a:pPr>
              <a:r>
                <a:rPr b="0" lang="es" sz="1200">
                  <a:solidFill>
                    <a:srgbClr val="475569"/>
                  </a:solidFill>
                  <a:latin typeface="Inter Medium"/>
                  <a:ea typeface="Inter Medium"/>
                  <a:cs typeface="Inter Medium"/>
                  <a:sym typeface="Inter Medium"/>
                </a:rPr>
                <a:t>Angelo Galindo</a:t>
              </a:r>
              <a:endParaRPr b="0" sz="1200">
                <a:solidFill>
                  <a:srgbClr val="475569"/>
                </a:solidFill>
                <a:latin typeface="Inter Medium"/>
                <a:ea typeface="Inter Medium"/>
                <a:cs typeface="Inter Medium"/>
                <a:sym typeface="Inter Medium"/>
              </a:endParaRPr>
            </a:p>
          </p:txBody>
        </p:sp>
      </p:grpSp>
      <p:grpSp>
        <p:nvGrpSpPr>
          <p:cNvPr id="62" name="Google Shape;62;p16"/>
          <p:cNvGrpSpPr/>
          <p:nvPr/>
        </p:nvGrpSpPr>
        <p:grpSpPr>
          <a:xfrm>
            <a:off x="4762500" y="2952750"/>
            <a:ext cx="3619500" cy="1428900"/>
            <a:chOff x="0" y="0"/>
            <a:chExt cx="3619500" cy="1428900"/>
          </a:xfrm>
        </p:grpSpPr>
        <p:sp>
          <p:nvSpPr>
            <p:cNvPr id="63" name="Google Shape;63;p16"/>
            <p:cNvSpPr/>
            <p:nvPr/>
          </p:nvSpPr>
          <p:spPr>
            <a:xfrm>
              <a:off x="0" y="0"/>
              <a:ext cx="3619500" cy="1428900"/>
            </a:xfrm>
            <a:prstGeom prst="roundRect">
              <a:avLst>
                <a:gd fmla="val 8000" name="adj"/>
              </a:avLst>
            </a:prstGeom>
            <a:solidFill>
              <a:srgbClr val="FFFFFF"/>
            </a:solidFill>
            <a:ln cap="flat" cmpd="sng" w="9525">
              <a:solidFill>
                <a:srgbClr val="E2E8F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4" name="Google Shape;64;p16"/>
            <p:cNvSpPr/>
            <p:nvPr/>
          </p:nvSpPr>
          <p:spPr>
            <a:xfrm>
              <a:off x="0" y="0"/>
              <a:ext cx="114300" cy="1428900"/>
            </a:xfrm>
            <a:custGeom>
              <a:rect b="b" l="l" r="r" t="t"/>
              <a:pathLst>
                <a:path extrusionOk="0" h="120000" w="120000">
                  <a:moveTo>
                    <a:pt x="0" y="9600"/>
                  </a:moveTo>
                  <a:cubicBezTo>
                    <a:pt x="0" y="4296"/>
                    <a:pt x="53700" y="0"/>
                    <a:pt x="120000" y="0"/>
                  </a:cubicBezTo>
                  <a:lnTo>
                    <a:pt x="120000" y="120000"/>
                  </a:lnTo>
                  <a:cubicBezTo>
                    <a:pt x="53700" y="120000"/>
                    <a:pt x="0" y="115704"/>
                    <a:pt x="0" y="110400"/>
                  </a:cubicBezTo>
                  <a:close/>
                </a:path>
              </a:pathLst>
            </a:custGeom>
            <a:solidFill>
              <a:srgbClr val="64748B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5" name="Google Shape;65;p16"/>
            <p:cNvSpPr txBox="1"/>
            <p:nvPr/>
          </p:nvSpPr>
          <p:spPr>
            <a:xfrm>
              <a:off x="228600" y="190500"/>
              <a:ext cx="3162300" cy="1047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s" sz="1100">
                  <a:solidFill>
                    <a:srgbClr val="0F172A"/>
                  </a:solidFill>
                  <a:latin typeface="Inter"/>
                  <a:ea typeface="Inter"/>
                  <a:cs typeface="Inter"/>
                  <a:sym typeface="Inter"/>
                </a:rPr>
                <a:t>Escuela &amp; Carrera</a:t>
              </a:r>
              <a:endParaRPr>
                <a:latin typeface="Inter"/>
                <a:ea typeface="Inter"/>
                <a:cs typeface="Inter"/>
                <a:sym typeface="Inter"/>
              </a:endParaRPr>
            </a:p>
            <a:p>
              <a:pPr indent="0" lvl="0" marL="0" rtl="0" algn="l">
                <a:spcBef>
                  <a:spcPts val="150"/>
                </a:spcBef>
                <a:spcAft>
                  <a:spcPts val="0"/>
                </a:spcAft>
                <a:buNone/>
              </a:pPr>
              <a:r>
                <a:rPr b="0" lang="es" sz="1200">
                  <a:solidFill>
                    <a:srgbClr val="475569"/>
                  </a:solidFill>
                  <a:latin typeface="Inter Medium"/>
                  <a:ea typeface="Inter Medium"/>
                  <a:cs typeface="Inter Medium"/>
                  <a:sym typeface="Inter Medium"/>
                </a:rPr>
                <a:t>Informática y Telecomunicaciones</a:t>
              </a:r>
              <a:endParaRPr b="0" sz="1200">
                <a:solidFill>
                  <a:srgbClr val="475569"/>
                </a:solidFill>
                <a:latin typeface="Inter Medium"/>
                <a:ea typeface="Inter Medium"/>
                <a:cs typeface="Inter Medium"/>
                <a:sym typeface="Inter Medium"/>
              </a:endParaRPr>
            </a:p>
            <a:p>
              <a:pPr indent="0" lvl="0" marL="0" rtl="0" algn="l">
                <a:spcBef>
                  <a:spcPts val="150"/>
                </a:spcBef>
                <a:spcAft>
                  <a:spcPts val="150"/>
                </a:spcAft>
                <a:buNone/>
              </a:pPr>
              <a:r>
                <a:rPr b="0" lang="es" sz="1200">
                  <a:solidFill>
                    <a:srgbClr val="475569"/>
                  </a:solidFill>
                  <a:latin typeface="Inter Medium"/>
                  <a:ea typeface="Inter Medium"/>
                  <a:cs typeface="Inter Medium"/>
                  <a:sym typeface="Inter Medium"/>
                </a:rPr>
                <a:t>Ingeniería en Informática</a:t>
              </a:r>
              <a:endParaRPr b="0" sz="1200">
                <a:solidFill>
                  <a:srgbClr val="475569"/>
                </a:solidFill>
                <a:latin typeface="Inter Medium"/>
                <a:ea typeface="Inter Medium"/>
                <a:cs typeface="Inter Medium"/>
                <a:sym typeface="Inter Medium"/>
              </a:endParaRPr>
            </a:p>
          </p:txBody>
        </p:sp>
      </p:grpSp>
      <p:pic>
        <p:nvPicPr>
          <p:cNvPr descr="http://www.duoc.cl/normasgraficas/normasgraficas/marca-duoc/6logo-fondo-transparente/fondo-transparente.png" id="66" name="Google Shape;66;p1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786525" y="205225"/>
            <a:ext cx="2000250" cy="4286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6" name="Shape 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Google Shape;77;p18"/>
          <p:cNvSpPr txBox="1"/>
          <p:nvPr/>
        </p:nvSpPr>
        <p:spPr>
          <a:xfrm>
            <a:off x="476250" y="381000"/>
            <a:ext cx="8191500" cy="476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s" sz="2400">
                <a:solidFill>
                  <a:srgbClr val="0F172A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El problema</a:t>
            </a:r>
            <a:endParaRPr b="1" sz="2400">
              <a:solidFill>
                <a:srgbClr val="0F172A"/>
              </a:solidFill>
              <a:latin typeface="Plus Jakarta Sans"/>
              <a:ea typeface="Plus Jakarta Sans"/>
              <a:cs typeface="Plus Jakarta Sans"/>
              <a:sym typeface="Plus Jakarta Sans"/>
            </a:endParaRPr>
          </a:p>
        </p:txBody>
      </p:sp>
      <p:sp>
        <p:nvSpPr>
          <p:cNvPr id="78" name="Google Shape;78;p18"/>
          <p:cNvSpPr txBox="1"/>
          <p:nvPr/>
        </p:nvSpPr>
        <p:spPr>
          <a:xfrm>
            <a:off x="476250" y="952500"/>
            <a:ext cx="3905400" cy="285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s" sz="1200">
                <a:solidFill>
                  <a:srgbClr val="0284C7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Un sistema legado que pone en riesgo a la planta</a:t>
            </a:r>
            <a:endParaRPr b="0" sz="1200">
              <a:solidFill>
                <a:srgbClr val="0284C7"/>
              </a:solidFill>
              <a:latin typeface="Inter SemiBold"/>
              <a:ea typeface="Inter SemiBold"/>
              <a:cs typeface="Inter SemiBold"/>
              <a:sym typeface="Inter SemiBold"/>
            </a:endParaRPr>
          </a:p>
        </p:txBody>
      </p:sp>
      <p:grpSp>
        <p:nvGrpSpPr>
          <p:cNvPr id="79" name="Google Shape;79;p18"/>
          <p:cNvGrpSpPr/>
          <p:nvPr/>
        </p:nvGrpSpPr>
        <p:grpSpPr>
          <a:xfrm>
            <a:off x="476250" y="1333500"/>
            <a:ext cx="3905400" cy="1047900"/>
            <a:chOff x="0" y="0"/>
            <a:chExt cx="3905400" cy="1047900"/>
          </a:xfrm>
        </p:grpSpPr>
        <p:sp>
          <p:nvSpPr>
            <p:cNvPr id="80" name="Google Shape;80;p18"/>
            <p:cNvSpPr/>
            <p:nvPr/>
          </p:nvSpPr>
          <p:spPr>
            <a:xfrm>
              <a:off x="0" y="0"/>
              <a:ext cx="3905400" cy="1047900"/>
            </a:xfrm>
            <a:prstGeom prst="roundRect">
              <a:avLst>
                <a:gd fmla="val 7272" name="adj"/>
              </a:avLst>
            </a:prstGeom>
            <a:solidFill>
              <a:srgbClr val="FFFFFF"/>
            </a:solidFill>
            <a:ln cap="flat" cmpd="sng" w="9525">
              <a:solidFill>
                <a:srgbClr val="E2E8F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1" name="Google Shape;81;p18"/>
            <p:cNvSpPr/>
            <p:nvPr/>
          </p:nvSpPr>
          <p:spPr>
            <a:xfrm>
              <a:off x="0" y="0"/>
              <a:ext cx="57300" cy="1047900"/>
            </a:xfrm>
            <a:prstGeom prst="roundRect">
              <a:avLst>
                <a:gd fmla="val 50000" name="adj"/>
              </a:avLst>
            </a:prstGeom>
            <a:solidFill>
              <a:srgbClr val="0284C7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2" name="Google Shape;82;p18"/>
            <p:cNvSpPr txBox="1"/>
            <p:nvPr/>
          </p:nvSpPr>
          <p:spPr>
            <a:xfrm>
              <a:off x="190500" y="95250"/>
              <a:ext cx="3524400" cy="8574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s" sz="1100">
                  <a:solidFill>
                    <a:srgbClr val="0F172A"/>
                  </a:solidFill>
                  <a:latin typeface="Inter"/>
                  <a:ea typeface="Inter"/>
                  <a:cs typeface="Inter"/>
                  <a:sym typeface="Inter"/>
                </a:rPr>
                <a:t>Sistema legado Socradex</a:t>
              </a:r>
              <a:endParaRPr b="1" sz="1100">
                <a:solidFill>
                  <a:srgbClr val="0F172A"/>
                </a:solidFill>
                <a:latin typeface="Inter"/>
                <a:ea typeface="Inter"/>
                <a:cs typeface="Inter"/>
                <a:sym typeface="Inter"/>
              </a:endParaRPr>
            </a:p>
            <a:p>
              <a:pPr indent="-292100" lvl="0" marL="457200" rtl="0" algn="l">
                <a:spcBef>
                  <a:spcPts val="450"/>
                </a:spcBef>
                <a:spcAft>
                  <a:spcPts val="0"/>
                </a:spcAft>
                <a:buClr>
                  <a:srgbClr val="475569"/>
                </a:buClr>
                <a:buSzPts val="1000"/>
                <a:buFont typeface="Inter"/>
                <a:buChar char="●"/>
              </a:pPr>
              <a:r>
                <a:rPr lang="es" sz="1000">
                  <a:solidFill>
                    <a:srgbClr val="475569"/>
                  </a:solidFill>
                  <a:latin typeface="Inter"/>
                  <a:ea typeface="Inter"/>
                  <a:cs typeface="Inter"/>
                  <a:sym typeface="Inter"/>
                </a:rPr>
                <a:t>Escritorio en VB.NET 2008 y PHP</a:t>
              </a:r>
              <a:endParaRPr sz="1000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endParaRPr>
            </a:p>
            <a:p>
              <a:pPr indent="-292100" lvl="0" marL="457200" rtl="0" algn="l">
                <a:spcBef>
                  <a:spcPts val="450"/>
                </a:spcBef>
                <a:spcAft>
                  <a:spcPts val="0"/>
                </a:spcAft>
                <a:buClr>
                  <a:srgbClr val="475569"/>
                </a:buClr>
                <a:buSzPts val="1000"/>
                <a:buFont typeface="Inter"/>
                <a:buChar char="●"/>
              </a:pPr>
              <a:r>
                <a:rPr lang="es" sz="1000">
                  <a:solidFill>
                    <a:srgbClr val="475569"/>
                  </a:solidFill>
                  <a:latin typeface="Inter"/>
                  <a:ea typeface="Inter"/>
                  <a:cs typeface="Inter"/>
                  <a:sym typeface="Inter"/>
                </a:rPr>
                <a:t>Clientes conectados directo a la base</a:t>
              </a:r>
              <a:endParaRPr sz="1000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endParaRPr>
            </a:p>
            <a:p>
              <a:pPr indent="-292100" lvl="0" marL="457200" rtl="0" algn="l">
                <a:spcBef>
                  <a:spcPts val="450"/>
                </a:spcBef>
                <a:spcAft>
                  <a:spcPts val="0"/>
                </a:spcAft>
                <a:buClr>
                  <a:srgbClr val="475569"/>
                </a:buClr>
                <a:buSzPts val="1000"/>
                <a:buFont typeface="Inter"/>
                <a:buChar char="●"/>
              </a:pPr>
              <a:r>
                <a:rPr lang="es" sz="1000">
                  <a:solidFill>
                    <a:srgbClr val="475569"/>
                  </a:solidFill>
                  <a:latin typeface="Inter"/>
                  <a:ea typeface="Inter"/>
                  <a:cs typeface="Inter"/>
                  <a:sym typeface="Inter"/>
                </a:rPr>
                <a:t>Consultas expuestas a inyección SQL</a:t>
              </a:r>
              <a:endParaRPr sz="1000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</p:grpSp>
      <p:grpSp>
        <p:nvGrpSpPr>
          <p:cNvPr id="83" name="Google Shape;83;p18"/>
          <p:cNvGrpSpPr/>
          <p:nvPr/>
        </p:nvGrpSpPr>
        <p:grpSpPr>
          <a:xfrm>
            <a:off x="476250" y="2524125"/>
            <a:ext cx="3905400" cy="904800"/>
            <a:chOff x="0" y="0"/>
            <a:chExt cx="3905400" cy="904800"/>
          </a:xfrm>
        </p:grpSpPr>
        <p:sp>
          <p:nvSpPr>
            <p:cNvPr id="84" name="Google Shape;84;p18"/>
            <p:cNvSpPr/>
            <p:nvPr/>
          </p:nvSpPr>
          <p:spPr>
            <a:xfrm>
              <a:off x="0" y="0"/>
              <a:ext cx="3905400" cy="904800"/>
            </a:xfrm>
            <a:prstGeom prst="roundRect">
              <a:avLst>
                <a:gd fmla="val 8421" name="adj"/>
              </a:avLst>
            </a:prstGeom>
            <a:solidFill>
              <a:srgbClr val="FFFFFF"/>
            </a:solidFill>
            <a:ln cap="flat" cmpd="sng" w="9525">
              <a:solidFill>
                <a:srgbClr val="E2E8F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5" name="Google Shape;85;p18"/>
            <p:cNvSpPr/>
            <p:nvPr/>
          </p:nvSpPr>
          <p:spPr>
            <a:xfrm>
              <a:off x="0" y="0"/>
              <a:ext cx="57300" cy="904800"/>
            </a:xfrm>
            <a:prstGeom prst="roundRect">
              <a:avLst>
                <a:gd fmla="val 50000" name="adj"/>
              </a:avLst>
            </a:prstGeom>
            <a:solidFill>
              <a:srgbClr val="0284C7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6" name="Google Shape;86;p18"/>
            <p:cNvSpPr txBox="1"/>
            <p:nvPr/>
          </p:nvSpPr>
          <p:spPr>
            <a:xfrm>
              <a:off x="190500" y="95250"/>
              <a:ext cx="3524400" cy="7143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s" sz="1100">
                  <a:solidFill>
                    <a:srgbClr val="0F172A"/>
                  </a:solidFill>
                  <a:latin typeface="Inter"/>
                  <a:ea typeface="Inter"/>
                  <a:cs typeface="Inter"/>
                  <a:sym typeface="Inter"/>
                </a:rPr>
                <a:t>Riesgos para la planta</a:t>
              </a:r>
              <a:endParaRPr b="1" sz="1100">
                <a:solidFill>
                  <a:srgbClr val="0F172A"/>
                </a:solidFill>
                <a:latin typeface="Inter"/>
                <a:ea typeface="Inter"/>
                <a:cs typeface="Inter"/>
                <a:sym typeface="Inter"/>
              </a:endParaRPr>
            </a:p>
            <a:p>
              <a:pPr indent="-292100" lvl="0" marL="457200" rtl="0" algn="l">
                <a:spcBef>
                  <a:spcPts val="450"/>
                </a:spcBef>
                <a:spcAft>
                  <a:spcPts val="0"/>
                </a:spcAft>
                <a:buClr>
                  <a:srgbClr val="475569"/>
                </a:buClr>
                <a:buSzPts val="1000"/>
                <a:buFont typeface="Inter"/>
                <a:buChar char="●"/>
              </a:pPr>
              <a:r>
                <a:rPr lang="es" sz="1000">
                  <a:solidFill>
                    <a:srgbClr val="475569"/>
                  </a:solidFill>
                  <a:latin typeface="Inter"/>
                  <a:ea typeface="Inter"/>
                  <a:cs typeface="Inter"/>
                  <a:sym typeface="Inter"/>
                </a:rPr>
                <a:t>Contraseñas en texto plano y sin auditoría</a:t>
              </a:r>
              <a:endParaRPr sz="1000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endParaRPr>
            </a:p>
            <a:p>
              <a:pPr indent="-292100" lvl="0" marL="457200" rtl="0" algn="l">
                <a:spcBef>
                  <a:spcPts val="450"/>
                </a:spcBef>
                <a:spcAft>
                  <a:spcPts val="0"/>
                </a:spcAft>
                <a:buClr>
                  <a:srgbClr val="475569"/>
                </a:buClr>
                <a:buSzPts val="1000"/>
                <a:buFont typeface="Inter"/>
                <a:buChar char="●"/>
              </a:pPr>
              <a:r>
                <a:rPr lang="es" sz="1000">
                  <a:solidFill>
                    <a:srgbClr val="475569"/>
                  </a:solidFill>
                  <a:latin typeface="Inter"/>
                  <a:ea typeface="Inter"/>
                  <a:cs typeface="Inter"/>
                  <a:sym typeface="Inter"/>
                </a:rPr>
                <a:t>Números de tarja que se pueden repetir</a:t>
              </a:r>
              <a:endParaRPr sz="1000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</p:grpSp>
      <p:grpSp>
        <p:nvGrpSpPr>
          <p:cNvPr id="87" name="Google Shape;87;p18"/>
          <p:cNvGrpSpPr/>
          <p:nvPr/>
        </p:nvGrpSpPr>
        <p:grpSpPr>
          <a:xfrm>
            <a:off x="476250" y="3619500"/>
            <a:ext cx="8191500" cy="1047900"/>
            <a:chOff x="0" y="0"/>
            <a:chExt cx="8191500" cy="1047900"/>
          </a:xfrm>
        </p:grpSpPr>
        <p:sp>
          <p:nvSpPr>
            <p:cNvPr id="88" name="Google Shape;88;p18"/>
            <p:cNvSpPr/>
            <p:nvPr/>
          </p:nvSpPr>
          <p:spPr>
            <a:xfrm>
              <a:off x="0" y="0"/>
              <a:ext cx="8191500" cy="1047900"/>
            </a:xfrm>
            <a:prstGeom prst="roundRect">
              <a:avLst>
                <a:gd fmla="val 7272" name="adj"/>
              </a:avLst>
            </a:prstGeom>
            <a:solidFill>
              <a:srgbClr val="F8FAFC"/>
            </a:solidFill>
            <a:ln cap="flat" cmpd="sng" w="9525">
              <a:solidFill>
                <a:srgbClr val="E2E8F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9" name="Google Shape;89;p18"/>
            <p:cNvSpPr/>
            <p:nvPr/>
          </p:nvSpPr>
          <p:spPr>
            <a:xfrm>
              <a:off x="0" y="0"/>
              <a:ext cx="57300" cy="1047900"/>
            </a:xfrm>
            <a:prstGeom prst="roundRect">
              <a:avLst>
                <a:gd fmla="val 50000" name="adj"/>
              </a:avLst>
            </a:prstGeom>
            <a:solidFill>
              <a:srgbClr val="64748B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0" name="Google Shape;90;p18"/>
            <p:cNvSpPr txBox="1"/>
            <p:nvPr/>
          </p:nvSpPr>
          <p:spPr>
            <a:xfrm>
              <a:off x="190500" y="114300"/>
              <a:ext cx="7810500" cy="8193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s" sz="1100">
                  <a:solidFill>
                    <a:srgbClr val="0F172A"/>
                  </a:solidFill>
                  <a:latin typeface="Inter"/>
                  <a:ea typeface="Inter"/>
                  <a:cs typeface="Inter"/>
                  <a:sym typeface="Inter"/>
                </a:rPr>
                <a:t>Por qué importa</a:t>
              </a:r>
              <a:endParaRPr b="1" sz="1100">
                <a:solidFill>
                  <a:srgbClr val="0F172A"/>
                </a:solidFill>
                <a:latin typeface="Inter"/>
                <a:ea typeface="Inter"/>
                <a:cs typeface="Inter"/>
                <a:sym typeface="Inter"/>
              </a:endParaRPr>
            </a:p>
            <a:p>
              <a:pPr indent="0" lvl="0" marL="0" rtl="0" algn="l">
                <a:spcBef>
                  <a:spcPts val="300"/>
                </a:spcBef>
                <a:spcAft>
                  <a:spcPts val="0"/>
                </a:spcAft>
                <a:buNone/>
              </a:pPr>
              <a:r>
                <a:rPr lang="es" sz="1000">
                  <a:solidFill>
                    <a:srgbClr val="475569"/>
                  </a:solidFill>
                  <a:latin typeface="Inter"/>
                  <a:ea typeface="Inter"/>
                  <a:cs typeface="Inter"/>
                  <a:sym typeface="Inter"/>
                </a:rPr>
                <a:t>La planta registra en este sistema la recepción y el procesamiento de la fruta. Un error o un ataque puede alterar kilos y tarjas sin dejar rastro, y la modernización no puede detener la producción.</a:t>
              </a:r>
              <a:endParaRPr sz="1000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</p:grpSp>
      <p:pic>
        <p:nvPicPr>
          <p:cNvPr id="91" name="Google Shape;91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572002" y="1046875"/>
            <a:ext cx="4021800" cy="2238300"/>
          </a:xfrm>
          <a:prstGeom prst="roundRect">
            <a:avLst>
              <a:gd fmla="val 16667" name="adj"/>
            </a:avLst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19"/>
          <p:cNvSpPr txBox="1"/>
          <p:nvPr/>
        </p:nvSpPr>
        <p:spPr>
          <a:xfrm>
            <a:off x="381000" y="381000"/>
            <a:ext cx="8382000" cy="571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s" sz="2600">
                <a:solidFill>
                  <a:srgbClr val="0F172A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El producto: A2D SM, web en 3 capas</a:t>
            </a:r>
            <a:endParaRPr b="1" sz="2600">
              <a:solidFill>
                <a:srgbClr val="0F172A"/>
              </a:solidFill>
              <a:latin typeface="Plus Jakarta Sans"/>
              <a:ea typeface="Plus Jakarta Sans"/>
              <a:cs typeface="Plus Jakarta Sans"/>
              <a:sym typeface="Plus Jakarta Sans"/>
            </a:endParaRPr>
          </a:p>
        </p:txBody>
      </p:sp>
      <p:grpSp>
        <p:nvGrpSpPr>
          <p:cNvPr id="97" name="Google Shape;97;p19"/>
          <p:cNvGrpSpPr/>
          <p:nvPr/>
        </p:nvGrpSpPr>
        <p:grpSpPr>
          <a:xfrm>
            <a:off x="381000" y="1238250"/>
            <a:ext cx="1952700" cy="3238500"/>
            <a:chOff x="0" y="0"/>
            <a:chExt cx="1952700" cy="3238500"/>
          </a:xfrm>
        </p:grpSpPr>
        <p:sp>
          <p:nvSpPr>
            <p:cNvPr id="98" name="Google Shape;98;p19"/>
            <p:cNvSpPr/>
            <p:nvPr/>
          </p:nvSpPr>
          <p:spPr>
            <a:xfrm>
              <a:off x="0" y="0"/>
              <a:ext cx="1952700" cy="3238500"/>
            </a:xfrm>
            <a:prstGeom prst="roundRect">
              <a:avLst>
                <a:gd fmla="val 3902" name="adj"/>
              </a:avLst>
            </a:prstGeom>
            <a:solidFill>
              <a:srgbClr val="FFFFFF"/>
            </a:solidFill>
            <a:ln cap="flat" cmpd="sng" w="14300">
              <a:solidFill>
                <a:srgbClr val="E2E8F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9" name="Google Shape;99;p19"/>
            <p:cNvSpPr/>
            <p:nvPr/>
          </p:nvSpPr>
          <p:spPr>
            <a:xfrm>
              <a:off x="0" y="0"/>
              <a:ext cx="47700" cy="3238500"/>
            </a:xfrm>
            <a:prstGeom prst="roundRect">
              <a:avLst>
                <a:gd fmla="val 50000" name="adj"/>
              </a:avLst>
            </a:prstGeom>
            <a:solidFill>
              <a:srgbClr val="0284C7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0" name="Google Shape;100;p19"/>
            <p:cNvSpPr txBox="1"/>
            <p:nvPr/>
          </p:nvSpPr>
          <p:spPr>
            <a:xfrm>
              <a:off x="190500" y="723900"/>
              <a:ext cx="1571700" cy="23241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s" sz="1150">
                  <a:solidFill>
                    <a:srgbClr val="0F172A"/>
                  </a:solidFill>
                  <a:latin typeface="Plus Jakarta Sans"/>
                  <a:ea typeface="Plus Jakarta Sans"/>
                  <a:cs typeface="Plus Jakarta Sans"/>
                  <a:sym typeface="Plus Jakarta Sans"/>
                </a:rPr>
                <a:t>E1 · Autenticación</a:t>
              </a:r>
              <a:endParaRPr b="1" sz="1150">
                <a:solidFill>
                  <a:srgbClr val="0F172A"/>
                </a:solidFill>
                <a:latin typeface="Plus Jakarta Sans"/>
                <a:ea typeface="Plus Jakarta Sans"/>
                <a:cs typeface="Plus Jakarta Sans"/>
                <a:sym typeface="Plus Jakarta Sans"/>
              </a:endParaRPr>
            </a:p>
            <a:p>
              <a:pPr indent="-288925" lvl="0" marL="457200" rtl="0" algn="l">
                <a:spcBef>
                  <a:spcPts val="900"/>
                </a:spcBef>
                <a:spcAft>
                  <a:spcPts val="0"/>
                </a:spcAft>
                <a:buClr>
                  <a:srgbClr val="475569"/>
                </a:buClr>
                <a:buSzPts val="950"/>
                <a:buFont typeface="Inter"/>
                <a:buChar char="●"/>
              </a:pPr>
              <a:r>
                <a:rPr lang="es" sz="950">
                  <a:solidFill>
                    <a:srgbClr val="475569"/>
                  </a:solidFill>
                  <a:latin typeface="Inter"/>
                  <a:ea typeface="Inter"/>
                  <a:cs typeface="Inter"/>
                  <a:sym typeface="Inter"/>
                </a:rPr>
                <a:t>Login con JWT y 4 roles</a:t>
              </a:r>
              <a:endParaRPr sz="950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endParaRPr>
            </a:p>
            <a:p>
              <a:pPr indent="-288925" lvl="0" marL="457200" rtl="0" algn="l">
                <a:spcBef>
                  <a:spcPts val="900"/>
                </a:spcBef>
                <a:spcAft>
                  <a:spcPts val="0"/>
                </a:spcAft>
                <a:buClr>
                  <a:srgbClr val="475569"/>
                </a:buClr>
                <a:buSzPts val="950"/>
                <a:buFont typeface="Inter"/>
                <a:buChar char="●"/>
              </a:pPr>
              <a:r>
                <a:rPr lang="es" sz="950">
                  <a:solidFill>
                    <a:srgbClr val="475569"/>
                  </a:solidFill>
                  <a:latin typeface="Inter"/>
                  <a:ea typeface="Inter"/>
                  <a:cs typeface="Inter"/>
                  <a:sym typeface="Inter"/>
                </a:rPr>
                <a:t>Gestión de usuarios</a:t>
              </a:r>
              <a:endParaRPr sz="950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endParaRPr>
            </a:p>
            <a:p>
              <a:pPr indent="-288925" lvl="0" marL="457200" rtl="0" algn="l">
                <a:spcBef>
                  <a:spcPts val="900"/>
                </a:spcBef>
                <a:spcAft>
                  <a:spcPts val="0"/>
                </a:spcAft>
                <a:buClr>
                  <a:srgbClr val="475569"/>
                </a:buClr>
                <a:buSzPts val="950"/>
                <a:buFont typeface="Inter"/>
                <a:buChar char="●"/>
              </a:pPr>
              <a:r>
                <a:rPr lang="es" sz="950">
                  <a:solidFill>
                    <a:srgbClr val="475569"/>
                  </a:solidFill>
                  <a:latin typeface="Inter"/>
                  <a:ea typeface="Inter"/>
                  <a:cs typeface="Inter"/>
                  <a:sym typeface="Inter"/>
                </a:rPr>
                <a:t>Permisos por rol</a:t>
              </a:r>
              <a:endParaRPr sz="950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</p:grpSp>
      <p:grpSp>
        <p:nvGrpSpPr>
          <p:cNvPr id="101" name="Google Shape;101;p19"/>
          <p:cNvGrpSpPr/>
          <p:nvPr/>
        </p:nvGrpSpPr>
        <p:grpSpPr>
          <a:xfrm>
            <a:off x="2524125" y="1238250"/>
            <a:ext cx="1952700" cy="3238500"/>
            <a:chOff x="0" y="0"/>
            <a:chExt cx="1952700" cy="3238500"/>
          </a:xfrm>
        </p:grpSpPr>
        <p:sp>
          <p:nvSpPr>
            <p:cNvPr id="102" name="Google Shape;102;p19"/>
            <p:cNvSpPr/>
            <p:nvPr/>
          </p:nvSpPr>
          <p:spPr>
            <a:xfrm>
              <a:off x="0" y="0"/>
              <a:ext cx="1952700" cy="3238500"/>
            </a:xfrm>
            <a:prstGeom prst="roundRect">
              <a:avLst>
                <a:gd fmla="val 3902" name="adj"/>
              </a:avLst>
            </a:prstGeom>
            <a:solidFill>
              <a:srgbClr val="FFFFFF"/>
            </a:solidFill>
            <a:ln cap="flat" cmpd="sng" w="14300">
              <a:solidFill>
                <a:srgbClr val="E2E8F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3" name="Google Shape;103;p19"/>
            <p:cNvSpPr/>
            <p:nvPr/>
          </p:nvSpPr>
          <p:spPr>
            <a:xfrm>
              <a:off x="0" y="0"/>
              <a:ext cx="47700" cy="3238500"/>
            </a:xfrm>
            <a:prstGeom prst="roundRect">
              <a:avLst>
                <a:gd fmla="val 50000" name="adj"/>
              </a:avLst>
            </a:prstGeom>
            <a:solidFill>
              <a:srgbClr val="0284C7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4" name="Google Shape;104;p19"/>
            <p:cNvSpPr txBox="1"/>
            <p:nvPr/>
          </p:nvSpPr>
          <p:spPr>
            <a:xfrm>
              <a:off x="190500" y="723900"/>
              <a:ext cx="1571700" cy="23241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s" sz="1150">
                  <a:solidFill>
                    <a:srgbClr val="0F172A"/>
                  </a:solidFill>
                  <a:latin typeface="Plus Jakarta Sans"/>
                  <a:ea typeface="Plus Jakarta Sans"/>
                  <a:cs typeface="Plus Jakarta Sans"/>
                  <a:sym typeface="Plus Jakarta Sans"/>
                </a:rPr>
                <a:t>E2 · Maestros core</a:t>
              </a:r>
              <a:endParaRPr b="1" sz="1150">
                <a:solidFill>
                  <a:srgbClr val="0F172A"/>
                </a:solidFill>
                <a:latin typeface="Plus Jakarta Sans"/>
                <a:ea typeface="Plus Jakarta Sans"/>
                <a:cs typeface="Plus Jakarta Sans"/>
                <a:sym typeface="Plus Jakarta Sans"/>
              </a:endParaRPr>
            </a:p>
            <a:p>
              <a:pPr indent="-288925" lvl="0" marL="457200" rtl="0" algn="l">
                <a:spcBef>
                  <a:spcPts val="900"/>
                </a:spcBef>
                <a:spcAft>
                  <a:spcPts val="0"/>
                </a:spcAft>
                <a:buClr>
                  <a:srgbClr val="475569"/>
                </a:buClr>
                <a:buSzPts val="950"/>
                <a:buFont typeface="Inter"/>
                <a:buChar char="●"/>
              </a:pPr>
              <a:r>
                <a:rPr lang="es" sz="950">
                  <a:solidFill>
                    <a:srgbClr val="475569"/>
                  </a:solidFill>
                  <a:latin typeface="Inter"/>
                  <a:ea typeface="Inter"/>
                  <a:cs typeface="Inter"/>
                  <a:sym typeface="Inter"/>
                </a:rPr>
                <a:t>Productores con RUT validado</a:t>
              </a:r>
              <a:endParaRPr sz="950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endParaRPr>
            </a:p>
            <a:p>
              <a:pPr indent="-288925" lvl="0" marL="457200" rtl="0" algn="l">
                <a:spcBef>
                  <a:spcPts val="900"/>
                </a:spcBef>
                <a:spcAft>
                  <a:spcPts val="0"/>
                </a:spcAft>
                <a:buClr>
                  <a:srgbClr val="475569"/>
                </a:buClr>
                <a:buSzPts val="950"/>
                <a:buFont typeface="Inter"/>
                <a:buChar char="●"/>
              </a:pPr>
              <a:r>
                <a:rPr lang="es" sz="950">
                  <a:solidFill>
                    <a:srgbClr val="475569"/>
                  </a:solidFill>
                  <a:latin typeface="Inter"/>
                  <a:ea typeface="Inter"/>
                  <a:cs typeface="Inter"/>
                  <a:sym typeface="Inter"/>
                </a:rPr>
                <a:t>Catálogos de la planta</a:t>
              </a:r>
              <a:endParaRPr sz="950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endParaRPr>
            </a:p>
            <a:p>
              <a:pPr indent="-288925" lvl="0" marL="457200" rtl="0" algn="l">
                <a:spcBef>
                  <a:spcPts val="900"/>
                </a:spcBef>
                <a:spcAft>
                  <a:spcPts val="0"/>
                </a:spcAft>
                <a:buClr>
                  <a:srgbClr val="475569"/>
                </a:buClr>
                <a:buSzPts val="950"/>
                <a:buFont typeface="Inter"/>
                <a:buChar char="●"/>
              </a:pPr>
              <a:r>
                <a:rPr lang="es" sz="950">
                  <a:solidFill>
                    <a:srgbClr val="475569"/>
                  </a:solidFill>
                  <a:latin typeface="Inter"/>
                  <a:ea typeface="Inter"/>
                  <a:cs typeface="Inter"/>
                  <a:sym typeface="Inter"/>
                </a:rPr>
                <a:t>Auditoría automática</a:t>
              </a:r>
              <a:endParaRPr sz="950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</p:grpSp>
      <p:grpSp>
        <p:nvGrpSpPr>
          <p:cNvPr id="105" name="Google Shape;105;p19"/>
          <p:cNvGrpSpPr/>
          <p:nvPr/>
        </p:nvGrpSpPr>
        <p:grpSpPr>
          <a:xfrm>
            <a:off x="4667250" y="1238250"/>
            <a:ext cx="1952700" cy="3238500"/>
            <a:chOff x="0" y="0"/>
            <a:chExt cx="1952700" cy="3238500"/>
          </a:xfrm>
        </p:grpSpPr>
        <p:sp>
          <p:nvSpPr>
            <p:cNvPr id="106" name="Google Shape;106;p19"/>
            <p:cNvSpPr/>
            <p:nvPr/>
          </p:nvSpPr>
          <p:spPr>
            <a:xfrm>
              <a:off x="0" y="0"/>
              <a:ext cx="1952700" cy="3238500"/>
            </a:xfrm>
            <a:prstGeom prst="roundRect">
              <a:avLst>
                <a:gd fmla="val 3902" name="adj"/>
              </a:avLst>
            </a:prstGeom>
            <a:solidFill>
              <a:srgbClr val="FFFFFF"/>
            </a:solidFill>
            <a:ln cap="flat" cmpd="sng" w="14300">
              <a:solidFill>
                <a:srgbClr val="E2E8F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7" name="Google Shape;107;p19"/>
            <p:cNvSpPr/>
            <p:nvPr/>
          </p:nvSpPr>
          <p:spPr>
            <a:xfrm>
              <a:off x="0" y="0"/>
              <a:ext cx="47700" cy="3238500"/>
            </a:xfrm>
            <a:prstGeom prst="roundRect">
              <a:avLst>
                <a:gd fmla="val 50000" name="adj"/>
              </a:avLst>
            </a:prstGeom>
            <a:solidFill>
              <a:srgbClr val="0284C7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8" name="Google Shape;108;p19"/>
            <p:cNvSpPr txBox="1"/>
            <p:nvPr/>
          </p:nvSpPr>
          <p:spPr>
            <a:xfrm>
              <a:off x="190500" y="723900"/>
              <a:ext cx="1571700" cy="23241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s" sz="1150">
                  <a:solidFill>
                    <a:srgbClr val="0F172A"/>
                  </a:solidFill>
                  <a:latin typeface="Plus Jakarta Sans"/>
                  <a:ea typeface="Plus Jakarta Sans"/>
                  <a:cs typeface="Plus Jakarta Sans"/>
                  <a:sym typeface="Plus Jakarta Sans"/>
                </a:rPr>
                <a:t>E3 · Recepción</a:t>
              </a:r>
              <a:endParaRPr b="1" sz="1150">
                <a:solidFill>
                  <a:srgbClr val="0F172A"/>
                </a:solidFill>
                <a:latin typeface="Plus Jakarta Sans"/>
                <a:ea typeface="Plus Jakarta Sans"/>
                <a:cs typeface="Plus Jakarta Sans"/>
                <a:sym typeface="Plus Jakarta Sans"/>
              </a:endParaRPr>
            </a:p>
            <a:p>
              <a:pPr indent="-288925" lvl="0" marL="457200" rtl="0" algn="l">
                <a:spcBef>
                  <a:spcPts val="900"/>
                </a:spcBef>
                <a:spcAft>
                  <a:spcPts val="0"/>
                </a:spcAft>
                <a:buClr>
                  <a:srgbClr val="475569"/>
                </a:buClr>
                <a:buSzPts val="950"/>
                <a:buFont typeface="Inter"/>
                <a:buChar char="●"/>
              </a:pPr>
              <a:r>
                <a:rPr lang="es" sz="950">
                  <a:solidFill>
                    <a:srgbClr val="475569"/>
                  </a:solidFill>
                  <a:latin typeface="Inter"/>
                  <a:ea typeface="Inter"/>
                  <a:cs typeface="Inter"/>
                  <a:sym typeface="Inter"/>
                </a:rPr>
                <a:t>Tarja numerada sin duplicados</a:t>
              </a:r>
              <a:endParaRPr sz="950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endParaRPr>
            </a:p>
            <a:p>
              <a:pPr indent="-288925" lvl="0" marL="457200" rtl="0" algn="l">
                <a:spcBef>
                  <a:spcPts val="900"/>
                </a:spcBef>
                <a:spcAft>
                  <a:spcPts val="0"/>
                </a:spcAft>
                <a:buClr>
                  <a:srgbClr val="475569"/>
                </a:buClr>
                <a:buSzPts val="950"/>
                <a:buFont typeface="Inter"/>
                <a:buChar char="●"/>
              </a:pPr>
              <a:r>
                <a:rPr lang="es" sz="950">
                  <a:solidFill>
                    <a:srgbClr val="475569"/>
                  </a:solidFill>
                  <a:latin typeface="Inter"/>
                  <a:ea typeface="Inter"/>
                  <a:cs typeface="Inter"/>
                  <a:sym typeface="Inter"/>
                </a:rPr>
                <a:t>Cálculo de kilos netos</a:t>
              </a:r>
              <a:endParaRPr sz="950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endParaRPr>
            </a:p>
            <a:p>
              <a:pPr indent="-288925" lvl="0" marL="457200" rtl="0" algn="l">
                <a:spcBef>
                  <a:spcPts val="900"/>
                </a:spcBef>
                <a:spcAft>
                  <a:spcPts val="0"/>
                </a:spcAft>
                <a:buClr>
                  <a:srgbClr val="475569"/>
                </a:buClr>
                <a:buSzPts val="950"/>
                <a:buFont typeface="Inter"/>
                <a:buChar char="●"/>
              </a:pPr>
              <a:r>
                <a:rPr lang="es" sz="950">
                  <a:solidFill>
                    <a:srgbClr val="475569"/>
                  </a:solidFill>
                  <a:latin typeface="Inter"/>
                  <a:ea typeface="Inter"/>
                  <a:cs typeface="Inter"/>
                  <a:sym typeface="Inter"/>
                </a:rPr>
                <a:t>Stock de bandejas</a:t>
              </a:r>
              <a:endParaRPr sz="950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</p:grpSp>
      <p:grpSp>
        <p:nvGrpSpPr>
          <p:cNvPr id="109" name="Google Shape;109;p19"/>
          <p:cNvGrpSpPr/>
          <p:nvPr/>
        </p:nvGrpSpPr>
        <p:grpSpPr>
          <a:xfrm>
            <a:off x="6810375" y="1238250"/>
            <a:ext cx="1952700" cy="3238500"/>
            <a:chOff x="0" y="0"/>
            <a:chExt cx="1952700" cy="3238500"/>
          </a:xfrm>
        </p:grpSpPr>
        <p:sp>
          <p:nvSpPr>
            <p:cNvPr id="110" name="Google Shape;110;p19"/>
            <p:cNvSpPr/>
            <p:nvPr/>
          </p:nvSpPr>
          <p:spPr>
            <a:xfrm>
              <a:off x="0" y="0"/>
              <a:ext cx="1952700" cy="3238500"/>
            </a:xfrm>
            <a:prstGeom prst="roundRect">
              <a:avLst>
                <a:gd fmla="val 3902" name="adj"/>
              </a:avLst>
            </a:prstGeom>
            <a:solidFill>
              <a:srgbClr val="FFFFFF"/>
            </a:solidFill>
            <a:ln cap="flat" cmpd="sng" w="14300">
              <a:solidFill>
                <a:srgbClr val="E2E8F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1" name="Google Shape;111;p19"/>
            <p:cNvSpPr/>
            <p:nvPr/>
          </p:nvSpPr>
          <p:spPr>
            <a:xfrm>
              <a:off x="0" y="0"/>
              <a:ext cx="47700" cy="3238500"/>
            </a:xfrm>
            <a:prstGeom prst="roundRect">
              <a:avLst>
                <a:gd fmla="val 50000" name="adj"/>
              </a:avLst>
            </a:prstGeom>
            <a:solidFill>
              <a:srgbClr val="0284C7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2" name="Google Shape;112;p19"/>
            <p:cNvSpPr txBox="1"/>
            <p:nvPr/>
          </p:nvSpPr>
          <p:spPr>
            <a:xfrm>
              <a:off x="119275" y="723900"/>
              <a:ext cx="1764000" cy="23241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s" sz="1150">
                  <a:solidFill>
                    <a:srgbClr val="0F172A"/>
                  </a:solidFill>
                  <a:latin typeface="Plus Jakarta Sans"/>
                  <a:ea typeface="Plus Jakarta Sans"/>
                  <a:cs typeface="Plus Jakarta Sans"/>
                  <a:sym typeface="Plus Jakarta Sans"/>
                </a:rPr>
                <a:t>E4 · Procesamiento</a:t>
              </a:r>
              <a:endParaRPr b="1" sz="1150">
                <a:solidFill>
                  <a:srgbClr val="0F172A"/>
                </a:solidFill>
                <a:latin typeface="Plus Jakarta Sans"/>
                <a:ea typeface="Plus Jakarta Sans"/>
                <a:cs typeface="Plus Jakarta Sans"/>
                <a:sym typeface="Plus Jakarta Sans"/>
              </a:endParaRPr>
            </a:p>
            <a:p>
              <a:pPr indent="-288925" lvl="0" marL="457200" rtl="0" algn="l">
                <a:spcBef>
                  <a:spcPts val="900"/>
                </a:spcBef>
                <a:spcAft>
                  <a:spcPts val="0"/>
                </a:spcAft>
                <a:buClr>
                  <a:srgbClr val="475569"/>
                </a:buClr>
                <a:buSzPts val="950"/>
                <a:buFont typeface="Inter"/>
                <a:buChar char="●"/>
              </a:pPr>
              <a:r>
                <a:rPr lang="es" sz="950">
                  <a:solidFill>
                    <a:srgbClr val="475569"/>
                  </a:solidFill>
                  <a:latin typeface="Inter"/>
                  <a:ea typeface="Inter"/>
                  <a:cs typeface="Inter"/>
                  <a:sym typeface="Inter"/>
                </a:rPr>
                <a:t>Consumo parcial de tarjas</a:t>
              </a:r>
              <a:endParaRPr sz="950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endParaRPr>
            </a:p>
            <a:p>
              <a:pPr indent="-288925" lvl="0" marL="457200" rtl="0" algn="l">
                <a:spcBef>
                  <a:spcPts val="900"/>
                </a:spcBef>
                <a:spcAft>
                  <a:spcPts val="0"/>
                </a:spcAft>
                <a:buClr>
                  <a:srgbClr val="475569"/>
                </a:buClr>
                <a:buSzPts val="950"/>
                <a:buFont typeface="Inter"/>
                <a:buChar char="●"/>
              </a:pPr>
              <a:r>
                <a:rPr lang="es" sz="950">
                  <a:solidFill>
                    <a:srgbClr val="475569"/>
                  </a:solidFill>
                  <a:latin typeface="Inter"/>
                  <a:ea typeface="Inter"/>
                  <a:cs typeface="Inter"/>
                  <a:sym typeface="Inter"/>
                </a:rPr>
                <a:t>Rendimiento y merma</a:t>
              </a:r>
              <a:endParaRPr sz="950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endParaRPr>
            </a:p>
            <a:p>
              <a:pPr indent="-288925" lvl="0" marL="457200" rtl="0" algn="l">
                <a:spcBef>
                  <a:spcPts val="900"/>
                </a:spcBef>
                <a:spcAft>
                  <a:spcPts val="0"/>
                </a:spcAft>
                <a:buClr>
                  <a:srgbClr val="475569"/>
                </a:buClr>
                <a:buSzPts val="950"/>
                <a:buFont typeface="Inter"/>
                <a:buChar char="●"/>
              </a:pPr>
              <a:r>
                <a:rPr lang="es" sz="950">
                  <a:solidFill>
                    <a:srgbClr val="475569"/>
                  </a:solidFill>
                  <a:latin typeface="Inter"/>
                  <a:ea typeface="Inter"/>
                  <a:cs typeface="Inter"/>
                  <a:sym typeface="Inter"/>
                </a:rPr>
                <a:t>Trazabilidad por tarja</a:t>
              </a:r>
              <a:endParaRPr sz="950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</p:grpSp>
      <p:pic>
        <p:nvPicPr>
          <p:cNvPr descr="image.png" id="113" name="Google Shape;113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100175" y="1325425"/>
            <a:ext cx="514350" cy="5143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14" name="Google Shape;114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86425" y="1325425"/>
            <a:ext cx="514350" cy="5143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15" name="Google Shape;115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3344650" y="1392717"/>
            <a:ext cx="459600" cy="4596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16" name="Google Shape;116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450078" y="1514362"/>
            <a:ext cx="200025" cy="2286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17" name="Google Shape;117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529550" y="1325425"/>
            <a:ext cx="514350" cy="5143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18" name="Google Shape;118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1243050" y="1514362"/>
            <a:ext cx="228600" cy="2286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19" name="Google Shape;119;p19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5500725" y="1468312"/>
            <a:ext cx="285750" cy="2286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20" name="Google Shape;120;p19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7672425" y="1468312"/>
            <a:ext cx="228600" cy="228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5" name="Google Shape;125;p20"/>
          <p:cNvGrpSpPr/>
          <p:nvPr/>
        </p:nvGrpSpPr>
        <p:grpSpPr>
          <a:xfrm>
            <a:off x="476250" y="381000"/>
            <a:ext cx="8191500" cy="571500"/>
            <a:chOff x="0" y="0"/>
            <a:chExt cx="8191500" cy="571500"/>
          </a:xfrm>
        </p:grpSpPr>
        <p:sp>
          <p:nvSpPr>
            <p:cNvPr id="126" name="Google Shape;126;p20"/>
            <p:cNvSpPr/>
            <p:nvPr/>
          </p:nvSpPr>
          <p:spPr>
            <a:xfrm>
              <a:off x="0" y="0"/>
              <a:ext cx="8191500" cy="5715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7" name="Google Shape;127;p20"/>
            <p:cNvSpPr txBox="1"/>
            <p:nvPr/>
          </p:nvSpPr>
          <p:spPr>
            <a:xfrm>
              <a:off x="0" y="0"/>
              <a:ext cx="8191500" cy="5715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s" sz="2600">
                  <a:solidFill>
                    <a:srgbClr val="0F172A"/>
                  </a:solidFill>
                  <a:latin typeface="Plus Jakarta Sans"/>
                  <a:ea typeface="Plus Jakarta Sans"/>
                  <a:cs typeface="Plus Jakarta Sans"/>
                  <a:sym typeface="Plus Jakarta Sans"/>
                </a:rPr>
                <a:t>Vínculo con el perfil de egreso</a:t>
              </a:r>
              <a:endParaRPr b="1" sz="2600">
                <a:solidFill>
                  <a:srgbClr val="0F172A"/>
                </a:solidFill>
                <a:latin typeface="Plus Jakarta Sans"/>
                <a:ea typeface="Plus Jakarta Sans"/>
                <a:cs typeface="Plus Jakarta Sans"/>
                <a:sym typeface="Plus Jakarta Sans"/>
              </a:endParaRPr>
            </a:p>
          </p:txBody>
        </p:sp>
      </p:grpSp>
      <p:grpSp>
        <p:nvGrpSpPr>
          <p:cNvPr id="128" name="Google Shape;128;p20"/>
          <p:cNvGrpSpPr/>
          <p:nvPr/>
        </p:nvGrpSpPr>
        <p:grpSpPr>
          <a:xfrm>
            <a:off x="476250" y="1238250"/>
            <a:ext cx="3905400" cy="3238500"/>
            <a:chOff x="0" y="0"/>
            <a:chExt cx="3905400" cy="3238500"/>
          </a:xfrm>
        </p:grpSpPr>
        <p:sp>
          <p:nvSpPr>
            <p:cNvPr id="129" name="Google Shape;129;p20"/>
            <p:cNvSpPr/>
            <p:nvPr/>
          </p:nvSpPr>
          <p:spPr>
            <a:xfrm>
              <a:off x="0" y="0"/>
              <a:ext cx="3905400" cy="3238500"/>
            </a:xfrm>
            <a:prstGeom prst="roundRect">
              <a:avLst>
                <a:gd fmla="val 2352" name="adj"/>
              </a:avLst>
            </a:prstGeom>
            <a:solidFill>
              <a:srgbClr val="FFFFFF"/>
            </a:solidFill>
            <a:ln cap="flat" cmpd="sng" w="9525">
              <a:solidFill>
                <a:srgbClr val="E2E8F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0" name="Google Shape;130;p20"/>
            <p:cNvSpPr/>
            <p:nvPr/>
          </p:nvSpPr>
          <p:spPr>
            <a:xfrm>
              <a:off x="0" y="0"/>
              <a:ext cx="57300" cy="3238500"/>
            </a:xfrm>
            <a:prstGeom prst="roundRect">
              <a:avLst>
                <a:gd fmla="val 50000" name="adj"/>
              </a:avLst>
            </a:prstGeom>
            <a:solidFill>
              <a:srgbClr val="0284C7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1" name="Google Shape;131;p20"/>
            <p:cNvSpPr txBox="1"/>
            <p:nvPr/>
          </p:nvSpPr>
          <p:spPr>
            <a:xfrm>
              <a:off x="151625" y="238050"/>
              <a:ext cx="3574500" cy="27624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s" sz="1400">
                  <a:solidFill>
                    <a:srgbClr val="0F172A"/>
                  </a:solidFill>
                  <a:latin typeface="Plus Jakarta Sans"/>
                  <a:ea typeface="Plus Jakarta Sans"/>
                  <a:cs typeface="Plus Jakarta Sans"/>
                  <a:sym typeface="Plus Jakarta Sans"/>
                </a:rPr>
                <a:t>Competencias del perfil de egreso</a:t>
              </a:r>
              <a:endParaRPr b="1" sz="1400">
                <a:solidFill>
                  <a:srgbClr val="0F172A"/>
                </a:solidFill>
                <a:latin typeface="Plus Jakarta Sans"/>
                <a:ea typeface="Plus Jakarta Sans"/>
                <a:cs typeface="Plus Jakarta Sans"/>
                <a:sym typeface="Plus Jakarta Sans"/>
              </a:endParaRPr>
            </a:p>
            <a:p>
              <a:pPr indent="-298450" lvl="0" marL="457200" rtl="0" algn="l">
                <a:spcBef>
                  <a:spcPts val="900"/>
                </a:spcBef>
                <a:spcAft>
                  <a:spcPts val="0"/>
                </a:spcAft>
                <a:buClr>
                  <a:srgbClr val="475569"/>
                </a:buClr>
                <a:buSzPts val="1100"/>
                <a:buFont typeface="Inter"/>
                <a:buChar char="●"/>
              </a:pPr>
              <a:r>
                <a:rPr b="0" lang="es" sz="1100">
                  <a:solidFill>
                    <a:srgbClr val="475569"/>
                  </a:solidFill>
                  <a:latin typeface="Inter"/>
                  <a:ea typeface="Inter"/>
                  <a:cs typeface="Inter"/>
                  <a:sym typeface="Inter"/>
                </a:rPr>
                <a:t>Evaluar y gestionar proyectos en todo su ciclo de vida</a:t>
              </a:r>
              <a:endParaRPr b="0" sz="1100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endParaRPr>
            </a:p>
            <a:p>
              <a:pPr indent="-298450" lvl="0" marL="457200" rtl="0" algn="l">
                <a:spcBef>
                  <a:spcPts val="900"/>
                </a:spcBef>
                <a:spcAft>
                  <a:spcPts val="0"/>
                </a:spcAft>
                <a:buClr>
                  <a:srgbClr val="475569"/>
                </a:buClr>
                <a:buSzPts val="1100"/>
                <a:buFont typeface="Inter"/>
                <a:buChar char="●"/>
              </a:pPr>
              <a:r>
                <a:rPr b="0" lang="es" sz="1100">
                  <a:solidFill>
                    <a:srgbClr val="475569"/>
                  </a:solidFill>
                  <a:latin typeface="Inter"/>
                  <a:ea typeface="Inter"/>
                  <a:cs typeface="Inter"/>
                  <a:sym typeface="Inter"/>
                </a:rPr>
                <a:t>Diseñar soluciones de información con bases de datos</a:t>
              </a:r>
              <a:endParaRPr b="0" sz="1100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endParaRPr>
            </a:p>
            <a:p>
              <a:pPr indent="-298450" lvl="0" marL="457200" rtl="0" algn="l">
                <a:spcBef>
                  <a:spcPts val="900"/>
                </a:spcBef>
                <a:spcAft>
                  <a:spcPts val="0"/>
                </a:spcAft>
                <a:buClr>
                  <a:srgbClr val="475569"/>
                </a:buClr>
                <a:buSzPts val="1100"/>
                <a:buFont typeface="Inter"/>
                <a:buChar char="●"/>
              </a:pPr>
              <a:r>
                <a:rPr b="0" lang="es" sz="1100">
                  <a:solidFill>
                    <a:srgbClr val="475569"/>
                  </a:solidFill>
                  <a:latin typeface="Inter"/>
                  <a:ea typeface="Inter"/>
                  <a:cs typeface="Inter"/>
                  <a:sym typeface="Inter"/>
                </a:rPr>
                <a:t>Diseñar y adaptar procesos de ingeniería de requisitos</a:t>
              </a:r>
              <a:endParaRPr b="0" sz="1100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endParaRPr>
            </a:p>
            <a:p>
              <a:pPr indent="-298450" lvl="0" marL="457200" rtl="0" algn="l">
                <a:spcBef>
                  <a:spcPts val="900"/>
                </a:spcBef>
                <a:spcAft>
                  <a:spcPts val="0"/>
                </a:spcAft>
                <a:buClr>
                  <a:srgbClr val="475569"/>
                </a:buClr>
                <a:buSzPts val="1100"/>
                <a:buFont typeface="Inter"/>
                <a:buChar char="●"/>
              </a:pPr>
              <a:r>
                <a:rPr b="0" lang="es" sz="1100">
                  <a:solidFill>
                    <a:srgbClr val="475569"/>
                  </a:solidFill>
                  <a:latin typeface="Inter"/>
                  <a:ea typeface="Inter"/>
                  <a:cs typeface="Inter"/>
                  <a:sym typeface="Inter"/>
                </a:rPr>
                <a:t>Diseñar software con foco en calidad y seguridad</a:t>
              </a:r>
              <a:endParaRPr b="0" sz="1100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</p:grpSp>
      <p:grpSp>
        <p:nvGrpSpPr>
          <p:cNvPr id="132" name="Google Shape;132;p20"/>
          <p:cNvGrpSpPr/>
          <p:nvPr/>
        </p:nvGrpSpPr>
        <p:grpSpPr>
          <a:xfrm>
            <a:off x="4762500" y="1238250"/>
            <a:ext cx="3905400" cy="3238500"/>
            <a:chOff x="0" y="0"/>
            <a:chExt cx="3905400" cy="3238500"/>
          </a:xfrm>
        </p:grpSpPr>
        <p:sp>
          <p:nvSpPr>
            <p:cNvPr id="133" name="Google Shape;133;p20"/>
            <p:cNvSpPr/>
            <p:nvPr/>
          </p:nvSpPr>
          <p:spPr>
            <a:xfrm>
              <a:off x="0" y="0"/>
              <a:ext cx="3905400" cy="3238500"/>
            </a:xfrm>
            <a:prstGeom prst="roundRect">
              <a:avLst>
                <a:gd fmla="val 2352" name="adj"/>
              </a:avLst>
            </a:prstGeom>
            <a:solidFill>
              <a:srgbClr val="FFFFFF"/>
            </a:solidFill>
            <a:ln cap="flat" cmpd="sng" w="9525">
              <a:solidFill>
                <a:srgbClr val="E2E8F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4" name="Google Shape;134;p20"/>
            <p:cNvSpPr/>
            <p:nvPr/>
          </p:nvSpPr>
          <p:spPr>
            <a:xfrm>
              <a:off x="0" y="0"/>
              <a:ext cx="57300" cy="3238500"/>
            </a:xfrm>
            <a:prstGeom prst="roundRect">
              <a:avLst>
                <a:gd fmla="val 50000" name="adj"/>
              </a:avLst>
            </a:prstGeom>
            <a:solidFill>
              <a:srgbClr val="0284C7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5" name="Google Shape;135;p20"/>
            <p:cNvSpPr txBox="1"/>
            <p:nvPr/>
          </p:nvSpPr>
          <p:spPr>
            <a:xfrm>
              <a:off x="238125" y="238125"/>
              <a:ext cx="3429000" cy="27624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s" sz="1400">
                  <a:solidFill>
                    <a:srgbClr val="0F172A"/>
                  </a:solidFill>
                  <a:latin typeface="Plus Jakarta Sans"/>
                  <a:ea typeface="Plus Jakarta Sans"/>
                  <a:cs typeface="Plus Jakarta Sans"/>
                  <a:sym typeface="Plus Jakarta Sans"/>
                </a:rPr>
                <a:t>Cómo lo evidencia A2D SM</a:t>
              </a:r>
              <a:endParaRPr b="1" sz="1400">
                <a:solidFill>
                  <a:srgbClr val="0F172A"/>
                </a:solidFill>
                <a:latin typeface="Plus Jakarta Sans"/>
                <a:ea typeface="Plus Jakarta Sans"/>
                <a:cs typeface="Plus Jakarta Sans"/>
                <a:sym typeface="Plus Jakarta Sans"/>
              </a:endParaRPr>
            </a:p>
            <a:p>
              <a:pPr indent="-298450" lvl="0" marL="457200" rtl="0" algn="l">
                <a:spcBef>
                  <a:spcPts val="1200"/>
                </a:spcBef>
                <a:spcAft>
                  <a:spcPts val="0"/>
                </a:spcAft>
                <a:buClr>
                  <a:srgbClr val="475569"/>
                </a:buClr>
                <a:buSzPts val="1100"/>
                <a:buFont typeface="Inter"/>
                <a:buChar char="●"/>
              </a:pPr>
              <a:r>
                <a:rPr b="0" lang="es" sz="1100">
                  <a:solidFill>
                    <a:srgbClr val="475569"/>
                  </a:solidFill>
                  <a:latin typeface="Inter"/>
                  <a:ea typeface="Inter"/>
                  <a:cs typeface="Inter"/>
                  <a:sym typeface="Inter"/>
                </a:rPr>
                <a:t>Scrum, Poker Planning y Carta Gantt: 4 épicas, 84 SP</a:t>
              </a:r>
              <a:endParaRPr b="0" sz="1100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endParaRPr>
            </a:p>
            <a:p>
              <a:pPr indent="-298450" lvl="0" marL="457200" rtl="0" algn="l">
                <a:spcBef>
                  <a:spcPts val="1200"/>
                </a:spcBef>
                <a:spcAft>
                  <a:spcPts val="0"/>
                </a:spcAft>
                <a:buClr>
                  <a:srgbClr val="475569"/>
                </a:buClr>
                <a:buSzPts val="1100"/>
                <a:buFont typeface="Inter"/>
                <a:buChar char="●"/>
              </a:pPr>
              <a:r>
                <a:rPr b="0" lang="es" sz="1100">
                  <a:solidFill>
                    <a:srgbClr val="475569"/>
                  </a:solidFill>
                  <a:latin typeface="Inter"/>
                  <a:ea typeface="Inter"/>
                  <a:cs typeface="Inter"/>
                  <a:sym typeface="Inter"/>
                </a:rPr>
                <a:t>Modelo E-R de 14 tablas en SQL Server, con migraciones</a:t>
              </a:r>
              <a:endParaRPr b="0" sz="1100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endParaRPr>
            </a:p>
            <a:p>
              <a:pPr indent="-298450" lvl="0" marL="457200" rtl="0" algn="l">
                <a:spcBef>
                  <a:spcPts val="1200"/>
                </a:spcBef>
                <a:spcAft>
                  <a:spcPts val="0"/>
                </a:spcAft>
                <a:buClr>
                  <a:srgbClr val="475569"/>
                </a:buClr>
                <a:buSzPts val="1100"/>
                <a:buFont typeface="Inter"/>
                <a:buChar char="●"/>
              </a:pPr>
              <a:r>
                <a:rPr b="0" lang="es" sz="1100">
                  <a:solidFill>
                    <a:srgbClr val="475569"/>
                  </a:solidFill>
                  <a:latin typeface="Inter"/>
                  <a:ea typeface="Inter"/>
                  <a:cs typeface="Inter"/>
                  <a:sym typeface="Inter"/>
                </a:rPr>
                <a:t>Requisitos obtenidos del código del legado e historias de usuario</a:t>
              </a:r>
              <a:endParaRPr b="0" sz="1100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endParaRPr>
            </a:p>
            <a:p>
              <a:pPr indent="-298450" lvl="0" marL="457200" rtl="0" algn="l">
                <a:spcBef>
                  <a:spcPts val="1200"/>
                </a:spcBef>
                <a:spcAft>
                  <a:spcPts val="0"/>
                </a:spcAft>
                <a:buClr>
                  <a:srgbClr val="475569"/>
                </a:buClr>
                <a:buSzPts val="1100"/>
                <a:buFont typeface="Inter"/>
                <a:buChar char="●"/>
              </a:pPr>
              <a:r>
                <a:rPr b="0" lang="es" sz="1100">
                  <a:solidFill>
                    <a:srgbClr val="475569"/>
                  </a:solidFill>
                  <a:latin typeface="Inter"/>
                  <a:ea typeface="Inter"/>
                  <a:cs typeface="Inter"/>
                  <a:sym typeface="Inter"/>
                </a:rPr>
                <a:t>JWT, bcrypt, permisos por rol y 46 pruebas aprobadas</a:t>
              </a:r>
              <a:endParaRPr b="0" sz="1100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</p:grp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0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Google Shape;171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</a:pPr>
            <a:r>
              <a:rPr b="1" lang="es" sz="2550">
                <a:solidFill>
                  <a:srgbClr val="0F172A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Plan de trabajo y avance</a:t>
            </a:r>
            <a:endParaRPr/>
          </a:p>
        </p:txBody>
      </p:sp>
      <p:graphicFrame>
        <p:nvGraphicFramePr>
          <p:cNvPr id="172" name="Google Shape;172;p24"/>
          <p:cNvGraphicFramePr/>
          <p:nvPr/>
        </p:nvGraphicFramePr>
        <p:xfrm>
          <a:off x="311700" y="11524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{E605F727-CFD4-4E81-9CF6-A8E1723FF7CF}</a:tableStyleId>
              </a:tblPr>
              <a:tblGrid>
                <a:gridCol w="2556175"/>
                <a:gridCol w="1022475"/>
                <a:gridCol w="1363300"/>
                <a:gridCol w="3578650"/>
              </a:tblGrid>
              <a:tr h="3796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s" sz="900" u="none" cap="none" strike="noStrike">
                          <a:solidFill>
                            <a:srgbClr val="FFFFFF"/>
                          </a:solidFill>
                          <a:latin typeface="Plus Jakarta Sans"/>
                          <a:ea typeface="Plus Jakarta Sans"/>
                          <a:cs typeface="Plus Jakarta Sans"/>
                          <a:sym typeface="Plus Jakarta Sans"/>
                        </a:rPr>
                        <a:t>Actividad (Carta Gantt)</a:t>
                      </a:r>
                      <a:endParaRPr/>
                    </a:p>
                  </a:txBody>
                  <a:tcPr marT="18000" marB="18000" marR="45700" marL="457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8F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6FA8D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s" sz="900" u="none" cap="none" strike="noStrike">
                          <a:solidFill>
                            <a:srgbClr val="FFFFFF"/>
                          </a:solidFill>
                          <a:latin typeface="Plus Jakarta Sans"/>
                          <a:ea typeface="Plus Jakarta Sans"/>
                          <a:cs typeface="Plus Jakarta Sans"/>
                          <a:sym typeface="Plus Jakarta Sans"/>
                        </a:rPr>
                        <a:t>Semanas</a:t>
                      </a:r>
                      <a:endParaRPr/>
                    </a:p>
                  </a:txBody>
                  <a:tcPr marT="18000" marB="18000" marR="45700" marL="457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8F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6FA8D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s" sz="900" u="none" cap="none" strike="noStrike">
                          <a:solidFill>
                            <a:srgbClr val="FFFFFF"/>
                          </a:solidFill>
                          <a:latin typeface="Plus Jakarta Sans"/>
                          <a:ea typeface="Plus Jakarta Sans"/>
                          <a:cs typeface="Plus Jakarta Sans"/>
                          <a:sym typeface="Plus Jakarta Sans"/>
                        </a:rPr>
                        <a:t>Responsable</a:t>
                      </a:r>
                      <a:endParaRPr/>
                    </a:p>
                  </a:txBody>
                  <a:tcPr marT="18000" marB="18000" marR="45700" marL="457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8F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6FA8D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s" sz="900" u="none" cap="none" strike="noStrike">
                          <a:solidFill>
                            <a:srgbClr val="FFFFFF"/>
                          </a:solidFill>
                          <a:latin typeface="Plus Jakarta Sans"/>
                          <a:ea typeface="Plus Jakarta Sans"/>
                          <a:cs typeface="Plus Jakarta Sans"/>
                          <a:sym typeface="Plus Jakarta Sans"/>
                        </a:rPr>
                        <a:t>Estado al 17/10</a:t>
                      </a:r>
                      <a:endParaRPr/>
                    </a:p>
                  </a:txBody>
                  <a:tcPr marT="18000" marB="18000" marR="45700" marL="457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8F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6FA8DC"/>
                    </a:solidFill>
                  </a:tcPr>
                </a:tc>
              </a:tr>
              <a:tr h="3796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s" sz="800" u="none" cap="none" strike="noStrike">
                          <a:solidFill>
                            <a:srgbClr val="0F172A"/>
                          </a:solidFill>
                          <a:latin typeface="Plus Jakarta Sans"/>
                          <a:ea typeface="Plus Jakarta Sans"/>
                          <a:cs typeface="Plus Jakarta Sans"/>
                          <a:sym typeface="Plus Jakarta Sans"/>
                        </a:rPr>
                        <a:t>Definición del Proyecto APT</a:t>
                      </a:r>
                      <a:endParaRPr/>
                    </a:p>
                  </a:txBody>
                  <a:tcPr marT="18000" marB="18000" marR="45700" marL="457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8F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8F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s" sz="800" u="none" cap="none" strike="noStrike">
                          <a:solidFill>
                            <a:srgbClr val="0F172A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S1–S4</a:t>
                      </a:r>
                      <a:endParaRPr/>
                    </a:p>
                  </a:txBody>
                  <a:tcPr marT="18000" marB="18000" marR="45700" marL="457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8F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8F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s" sz="800" u="none" cap="none" strike="noStrike">
                          <a:solidFill>
                            <a:srgbClr val="0F172A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Todo el equipo</a:t>
                      </a:r>
                      <a:endParaRPr/>
                    </a:p>
                  </a:txBody>
                  <a:tcPr marT="18000" marB="18000" marR="45700" marL="457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8F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8F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s" sz="800" u="none" cap="none" strike="noStrike">
                          <a:solidFill>
                            <a:srgbClr val="0F172A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Terminada</a:t>
                      </a:r>
                      <a:endParaRPr/>
                    </a:p>
                  </a:txBody>
                  <a:tcPr marT="18000" marB="18000" marR="45700" marL="457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8F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8F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</a:tr>
              <a:tr h="3796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s" sz="800" u="none" cap="none" strike="noStrike">
                          <a:solidFill>
                            <a:srgbClr val="0F172A"/>
                          </a:solidFill>
                          <a:latin typeface="Plus Jakarta Sans"/>
                          <a:ea typeface="Plus Jakarta Sans"/>
                          <a:cs typeface="Plus Jakarta Sans"/>
                          <a:sym typeface="Plus Jakarta Sans"/>
                        </a:rPr>
                        <a:t>Modelo E-R y arquitectura base</a:t>
                      </a:r>
                      <a:endParaRPr/>
                    </a:p>
                  </a:txBody>
                  <a:tcPr marT="18000" marB="18000" marR="45700" marL="457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8F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8F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3F6F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s" sz="800" u="none" cap="none" strike="noStrike">
                          <a:solidFill>
                            <a:srgbClr val="0F172A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S5–S6</a:t>
                      </a:r>
                      <a:endParaRPr/>
                    </a:p>
                  </a:txBody>
                  <a:tcPr marT="18000" marB="18000" marR="45700" marL="457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8F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8F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3F6F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s" sz="800" u="none" cap="none" strike="noStrike">
                          <a:solidFill>
                            <a:srgbClr val="0F172A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Diego Carrillo</a:t>
                      </a:r>
                      <a:endParaRPr/>
                    </a:p>
                  </a:txBody>
                  <a:tcPr marT="18000" marB="18000" marR="45700" marL="457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8F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8F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3F6F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s" sz="800" u="none" cap="none" strike="noStrike">
                          <a:solidFill>
                            <a:srgbClr val="0F172A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Terminada; modelo rediseñado el 04/10</a:t>
                      </a:r>
                      <a:endParaRPr/>
                    </a:p>
                  </a:txBody>
                  <a:tcPr marT="18000" marB="18000" marR="45700" marL="457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8F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8F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3F6FC"/>
                    </a:solidFill>
                  </a:tcPr>
                </a:tc>
              </a:tr>
              <a:tr h="3796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s" sz="800" u="none" cap="none" strike="noStrike">
                          <a:solidFill>
                            <a:srgbClr val="0F172A"/>
                          </a:solidFill>
                          <a:latin typeface="Plus Jakarta Sans"/>
                          <a:ea typeface="Plus Jakarta Sans"/>
                          <a:cs typeface="Plus Jakarta Sans"/>
                          <a:sym typeface="Plus Jakarta Sans"/>
                        </a:rPr>
                        <a:t>Épica E1: Autenticación y RBAC</a:t>
                      </a:r>
                      <a:endParaRPr/>
                    </a:p>
                  </a:txBody>
                  <a:tcPr marT="18000" marB="18000" marR="45700" marL="457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8F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8F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s" sz="800" u="none" cap="none" strike="noStrike">
                          <a:solidFill>
                            <a:srgbClr val="0F172A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S7–S8</a:t>
                      </a:r>
                      <a:endParaRPr/>
                    </a:p>
                  </a:txBody>
                  <a:tcPr marT="18000" marB="18000" marR="45700" marL="457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8F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8F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s" sz="800" u="none" cap="none" strike="noStrike">
                          <a:solidFill>
                            <a:srgbClr val="0F172A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Todo el equipo</a:t>
                      </a:r>
                      <a:endParaRPr/>
                    </a:p>
                  </a:txBody>
                  <a:tcPr marT="18000" marB="18000" marR="45700" marL="457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8F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8F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s" sz="800" u="none" cap="none" strike="noStrike">
                          <a:solidFill>
                            <a:srgbClr val="0F172A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Terminada el 04/10 (S6); menú por rol parcial</a:t>
                      </a:r>
                      <a:endParaRPr/>
                    </a:p>
                  </a:txBody>
                  <a:tcPr marT="18000" marB="18000" marR="45700" marL="457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8F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8F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</a:tr>
              <a:tr h="3796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s" sz="800" u="none" cap="none" strike="noStrike">
                          <a:solidFill>
                            <a:srgbClr val="0F172A"/>
                          </a:solidFill>
                          <a:latin typeface="Plus Jakarta Sans"/>
                          <a:ea typeface="Plus Jakarta Sans"/>
                          <a:cs typeface="Plus Jakarta Sans"/>
                          <a:sym typeface="Plus Jakarta Sans"/>
                        </a:rPr>
                        <a:t>Épica E2: Maestros core</a:t>
                      </a:r>
                      <a:r>
                        <a:rPr b="1" lang="es" sz="800">
                          <a:solidFill>
                            <a:srgbClr val="0F172A"/>
                          </a:solidFill>
                          <a:latin typeface="Plus Jakarta Sans"/>
                          <a:ea typeface="Plus Jakarta Sans"/>
                          <a:cs typeface="Plus Jakarta Sans"/>
                          <a:sym typeface="Plus Jakarta Sans"/>
                        </a:rPr>
                        <a:t/>
                      </a:r>
                      <a:r>
                        <a:rPr b="1" lang="es" sz="800" u="none" cap="none" strike="noStrike">
                          <a:solidFill>
                            <a:srgbClr val="0F172A"/>
                          </a:solidFill>
                          <a:latin typeface="Plus Jakarta Sans"/>
                          <a:ea typeface="Plus Jakarta Sans"/>
                          <a:cs typeface="Plus Jakarta Sans"/>
                          <a:sym typeface="Plus Jakarta Sans"/>
                        </a:rPr>
                        <a:t/>
                      </a:r>
                      <a:endParaRPr/>
                    </a:p>
                  </a:txBody>
                  <a:tcPr marT="18000" marB="18000" marR="45700" marL="457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8F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8F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3F6F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s" sz="800" u="none" cap="none" strike="noStrike">
                          <a:solidFill>
                            <a:srgbClr val="0F172A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S9–S10</a:t>
                      </a:r>
                      <a:endParaRPr/>
                    </a:p>
                  </a:txBody>
                  <a:tcPr marT="18000" marB="18000" marR="45700" marL="457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8F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8F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3F6F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s" sz="800" u="none" cap="none" strike="noStrike">
                          <a:solidFill>
                            <a:srgbClr val="0F172A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Por asignar</a:t>
                      </a:r>
                      <a:endParaRPr/>
                    </a:p>
                  </a:txBody>
                  <a:tcPr marT="18000" marB="18000" marR="45700" marL="457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8F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8F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3F6F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s" sz="800" u="none" cap="none" strike="noStrike">
                          <a:solidFill>
                            <a:srgbClr val="0F172A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Inicia el 19/10</a:t>
                      </a:r>
                      <a:endParaRPr/>
                    </a:p>
                  </a:txBody>
                  <a:tcPr marT="18000" marB="18000" marR="45700" marL="457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8F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8F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3F6FC"/>
                    </a:solidFill>
                  </a:tcPr>
                </a:tc>
              </a:tr>
              <a:tr h="3796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s" sz="800" u="none" cap="none" strike="noStrike">
                          <a:solidFill>
                            <a:srgbClr val="0F172A"/>
                          </a:solidFill>
                          <a:latin typeface="Plus Jakarta Sans"/>
                          <a:ea typeface="Plus Jakarta Sans"/>
                          <a:cs typeface="Plus Jakarta Sans"/>
                          <a:sym typeface="Plus Jakarta Sans"/>
                        </a:rPr>
                        <a:t>Épica E3: Recepción de tarjas</a:t>
                      </a:r>
                      <a:endParaRPr/>
                    </a:p>
                  </a:txBody>
                  <a:tcPr marT="18000" marB="18000" marR="45700" marL="457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8F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8F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s" sz="800" u="none" cap="none" strike="noStrike">
                          <a:solidFill>
                            <a:srgbClr val="0F172A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S11–S12</a:t>
                      </a:r>
                      <a:endParaRPr/>
                    </a:p>
                  </a:txBody>
                  <a:tcPr marT="18000" marB="18000" marR="45700" marL="457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8F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8F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s" sz="800" u="none" cap="none" strike="noStrike">
                          <a:solidFill>
                            <a:srgbClr val="0F172A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Por asignar</a:t>
                      </a:r>
                      <a:endParaRPr/>
                    </a:p>
                  </a:txBody>
                  <a:tcPr marT="18000" marB="18000" marR="45700" marL="457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8F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8F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s" sz="800" u="none" cap="none" strike="noStrike">
                          <a:solidFill>
                            <a:srgbClr val="0F172A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Planificada</a:t>
                      </a:r>
                      <a:endParaRPr/>
                    </a:p>
                  </a:txBody>
                  <a:tcPr marT="18000" marB="18000" marR="45700" marL="457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8F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8F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</a:tr>
              <a:tr h="3796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s" sz="800" u="none" cap="none" strike="noStrike">
                          <a:solidFill>
                            <a:srgbClr val="0F172A"/>
                          </a:solidFill>
                          <a:latin typeface="Plus Jakarta Sans"/>
                          <a:ea typeface="Plus Jakarta Sans"/>
                          <a:cs typeface="Plus Jakarta Sans"/>
                          <a:sym typeface="Plus Jakarta Sans"/>
                        </a:rPr>
                        <a:t>Épica E4: Procesamiento y auditoría</a:t>
                      </a:r>
                      <a:endParaRPr/>
                    </a:p>
                  </a:txBody>
                  <a:tcPr marT="18000" marB="18000" marR="45700" marL="457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8F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8F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3F6F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s" sz="800" u="none" cap="none" strike="noStrike">
                          <a:solidFill>
                            <a:srgbClr val="0F172A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S13–S14</a:t>
                      </a:r>
                      <a:endParaRPr/>
                    </a:p>
                  </a:txBody>
                  <a:tcPr marT="18000" marB="18000" marR="45700" marL="457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8F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8F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3F6F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s" sz="800" u="none" cap="none" strike="noStrike">
                          <a:solidFill>
                            <a:srgbClr val="0F172A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Por asignar</a:t>
                      </a:r>
                      <a:endParaRPr/>
                    </a:p>
                  </a:txBody>
                  <a:tcPr marT="18000" marB="18000" marR="45700" marL="457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8F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8F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3F6F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s" sz="800" u="none" cap="none" strike="noStrike">
                          <a:solidFill>
                            <a:srgbClr val="0F172A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Planificada</a:t>
                      </a:r>
                      <a:endParaRPr/>
                    </a:p>
                  </a:txBody>
                  <a:tcPr marT="18000" marB="18000" marR="45700" marL="457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8F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8F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3F6FC"/>
                    </a:solidFill>
                  </a:tcPr>
                </a:tc>
              </a:tr>
              <a:tr h="3796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s" sz="800" u="none" cap="none" strike="noStrike">
                          <a:solidFill>
                            <a:srgbClr val="0F172A"/>
                          </a:solidFill>
                          <a:latin typeface="Plus Jakarta Sans"/>
                          <a:ea typeface="Plus Jakarta Sans"/>
                          <a:cs typeface="Plus Jakarta Sans"/>
                          <a:sym typeface="Plus Jakarta Sans"/>
                        </a:rPr>
                        <a:t>Pruebas funcionales y no funcionales</a:t>
                      </a:r>
                      <a:endParaRPr/>
                    </a:p>
                  </a:txBody>
                  <a:tcPr marT="18000" marB="18000" marR="45700" marL="457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8F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8F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s" sz="800" u="none" cap="none" strike="noStrike">
                          <a:solidFill>
                            <a:srgbClr val="0F172A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S15</a:t>
                      </a:r>
                      <a:endParaRPr/>
                    </a:p>
                  </a:txBody>
                  <a:tcPr marT="18000" marB="18000" marR="45700" marL="457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8F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8F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s" sz="800" u="none" cap="none" strike="noStrike">
                          <a:solidFill>
                            <a:srgbClr val="0F172A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Angelo Galindo (QA)</a:t>
                      </a:r>
                      <a:endParaRPr/>
                    </a:p>
                  </a:txBody>
                  <a:tcPr marT="18000" marB="18000" marR="45700" marL="457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8F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8F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s" sz="800" u="none" cap="none" strike="noStrike">
                          <a:solidFill>
                            <a:srgbClr val="0F172A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Planificada</a:t>
                      </a:r>
                      <a:endParaRPr/>
                    </a:p>
                  </a:txBody>
                  <a:tcPr marT="18000" marB="18000" marR="45700" marL="457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8F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8F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</a:tr>
              <a:tr h="3796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s" sz="800" u="none" cap="none" strike="noStrike">
                          <a:solidFill>
                            <a:srgbClr val="0F172A"/>
                          </a:solidFill>
                          <a:latin typeface="Plus Jakarta Sans"/>
                          <a:ea typeface="Plus Jakarta Sans"/>
                          <a:cs typeface="Plus Jakarta Sans"/>
                          <a:sym typeface="Plus Jakarta Sans"/>
                        </a:rPr>
                        <a:t>Cierre y entrega final</a:t>
                      </a:r>
                      <a:endParaRPr/>
                    </a:p>
                  </a:txBody>
                  <a:tcPr marT="18000" marB="18000" marR="45700" marL="457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8F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3F6F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s" sz="800" u="none" cap="none" strike="noStrike">
                          <a:solidFill>
                            <a:srgbClr val="0F172A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S16–S18</a:t>
                      </a:r>
                      <a:endParaRPr/>
                    </a:p>
                  </a:txBody>
                  <a:tcPr marT="18000" marB="18000" marR="45700" marL="457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8F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3F6F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s" sz="800" u="none" cap="none" strike="noStrike">
                          <a:solidFill>
                            <a:srgbClr val="0F172A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Todo el equipo</a:t>
                      </a:r>
                      <a:endParaRPr/>
                    </a:p>
                  </a:txBody>
                  <a:tcPr marT="18000" marB="18000" marR="45700" marL="457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8F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3F6F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s" sz="800" u="none" cap="none" strike="noStrike">
                          <a:solidFill>
                            <a:srgbClr val="0F172A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Planificada</a:t>
                      </a:r>
                      <a:endParaRPr/>
                    </a:p>
                  </a:txBody>
                  <a:tcPr marT="18000" marB="18000" marR="45700" marL="457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8F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3F6F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476250" y="381000"/>
            <a:ext cx="8191500" cy="5715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s" sz="2600">
                <a:solidFill>
                  <a:srgbClr val="0F172A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Avance a la fecha</a:t>
            </a:r>
            <a:endParaRPr b="1" sz="2600">
              <a:solidFill>
                <a:srgbClr val="0F172A"/>
              </a:solidFill>
              <a:latin typeface="Plus Jakarta Sans"/>
              <a:ea typeface="Plus Jakarta Sans"/>
              <a:cs typeface="Plus Jakarta Sans"/>
              <a:sym typeface="Plus Jakarta Sans"/>
            </a:endParaRPr>
          </a:p>
        </p:txBody>
      </p:sp>
      <p:sp>
        <p:nvSpPr>
          <p:cNvPr id="178" name="Google Shape;178;p25"/>
          <p:cNvSpPr txBox="1"/>
          <p:nvPr/>
        </p:nvSpPr>
        <p:spPr>
          <a:xfrm>
            <a:off x="476250" y="904875"/>
            <a:ext cx="8191500" cy="3810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s" sz="1150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Semana S8 (17/10/2026): Épica 1 terminada y documentación de Fase 2 completa.</a:t>
            </a:r>
            <a:endParaRPr b="0" sz="1150">
              <a:solidFill>
                <a:srgbClr val="475569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grpSp>
        <p:nvGrpSpPr>
          <p:cNvPr id="179" name="Google Shape;179;p25"/>
          <p:cNvGrpSpPr/>
          <p:nvPr/>
        </p:nvGrpSpPr>
        <p:grpSpPr>
          <a:xfrm>
            <a:off x="476250" y="1381125"/>
            <a:ext cx="3905400" cy="3048000"/>
            <a:chOff x="0" y="0"/>
            <a:chExt cx="3905400" cy="3048000"/>
          </a:xfrm>
        </p:grpSpPr>
        <p:sp>
          <p:nvSpPr>
            <p:cNvPr id="180" name="Google Shape;180;p25"/>
            <p:cNvSpPr/>
            <p:nvPr/>
          </p:nvSpPr>
          <p:spPr>
            <a:xfrm>
              <a:off x="0" y="0"/>
              <a:ext cx="3905400" cy="3048000"/>
            </a:xfrm>
            <a:prstGeom prst="roundRect">
              <a:avLst>
                <a:gd fmla="val 2500" name="adj"/>
              </a:avLst>
            </a:prstGeom>
            <a:solidFill>
              <a:srgbClr val="FFFFFF"/>
            </a:solidFill>
            <a:ln cap="flat" cmpd="sng" w="9525">
              <a:solidFill>
                <a:srgbClr val="E2E8F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81" name="Google Shape;181;p25"/>
            <p:cNvSpPr/>
            <p:nvPr/>
          </p:nvSpPr>
          <p:spPr>
            <a:xfrm>
              <a:off x="0" y="0"/>
              <a:ext cx="57300" cy="3048000"/>
            </a:xfrm>
            <a:prstGeom prst="roundRect">
              <a:avLst>
                <a:gd fmla="val 50000" name="adj"/>
              </a:avLst>
            </a:prstGeom>
            <a:solidFill>
              <a:srgbClr val="0284C7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82" name="Google Shape;182;p25"/>
            <p:cNvSpPr txBox="1"/>
            <p:nvPr/>
          </p:nvSpPr>
          <p:spPr>
            <a:xfrm>
              <a:off x="238125" y="238125"/>
              <a:ext cx="3429000" cy="2571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s" sz="1400">
                  <a:solidFill>
                    <a:srgbClr val="0F172A"/>
                  </a:solidFill>
                  <a:latin typeface="Plus Jakarta Sans"/>
                  <a:ea typeface="Plus Jakarta Sans"/>
                  <a:cs typeface="Plus Jakarta Sans"/>
                  <a:sym typeface="Plus Jakarta Sans"/>
                </a:rPr>
                <a:t>Producto: Épica 1</a:t>
              </a:r>
              <a:endParaRPr b="1" sz="1400">
                <a:solidFill>
                  <a:srgbClr val="0F172A"/>
                </a:solidFill>
                <a:latin typeface="Plus Jakarta Sans"/>
                <a:ea typeface="Plus Jakarta Sans"/>
                <a:cs typeface="Plus Jakarta Sans"/>
                <a:sym typeface="Plus Jakarta Sans"/>
              </a:endParaRPr>
            </a:p>
            <a:p>
              <a:pPr indent="-295275" lvl="0" marL="457200" rtl="0" algn="l">
                <a:spcBef>
                  <a:spcPts val="1200"/>
                </a:spcBef>
                <a:spcAft>
                  <a:spcPts val="0"/>
                </a:spcAft>
                <a:buClr>
                  <a:srgbClr val="475569"/>
                </a:buClr>
                <a:buSzPts val="1050"/>
                <a:buFont typeface="Inter"/>
                <a:buChar char="●"/>
              </a:pPr>
              <a:r>
                <a:rPr b="1" lang="es" sz="1050">
                  <a:solidFill>
                    <a:srgbClr val="0284C7"/>
                  </a:solidFill>
                  <a:latin typeface="Inter"/>
                  <a:ea typeface="Inter"/>
                  <a:cs typeface="Inter"/>
                  <a:sym typeface="Inter"/>
                </a:rPr>
                <a:t>Backend:</a:t>
              </a:r>
              <a:r>
                <a:rPr b="0" lang="es" sz="1050">
                  <a:solidFill>
                    <a:srgbClr val="475569"/>
                  </a:solidFill>
                  <a:latin typeface="Inter"/>
                  <a:ea typeface="Inter"/>
                  <a:cs typeface="Inter"/>
                  <a:sym typeface="Inter"/>
                </a:rPr>
                <a:t xml:space="preserve"> login con JWT, 4 roles y gestión de usuarios.</a:t>
              </a:r>
              <a:endParaRPr b="0" sz="1050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endParaRPr>
            </a:p>
            <a:p>
              <a:pPr indent="-295275" lvl="0" marL="457200" rtl="0" algn="l">
                <a:spcBef>
                  <a:spcPts val="1200"/>
                </a:spcBef>
                <a:spcAft>
                  <a:spcPts val="0"/>
                </a:spcAft>
                <a:buClr>
                  <a:srgbClr val="475569"/>
                </a:buClr>
                <a:buSzPts val="1050"/>
                <a:buFont typeface="Inter"/>
                <a:buChar char="●"/>
              </a:pPr>
              <a:r>
                <a:rPr b="1" lang="es" sz="1050">
                  <a:solidFill>
                    <a:srgbClr val="0284C7"/>
                  </a:solidFill>
                  <a:latin typeface="Inter"/>
                  <a:ea typeface="Inter"/>
                  <a:cs typeface="Inter"/>
                  <a:sym typeface="Inter"/>
                </a:rPr>
                <a:t>Frontend:</a:t>
              </a:r>
              <a:r>
                <a:rPr b="0" lang="es" sz="1050">
                  <a:solidFill>
                    <a:srgbClr val="475569"/>
                  </a:solidFill>
                  <a:latin typeface="Inter"/>
                  <a:ea typeface="Inter"/>
                  <a:cs typeface="Inter"/>
                  <a:sym typeface="Inter"/>
                </a:rPr>
                <a:t xml:space="preserve"> React con sesión persistente y rutas protegidas.</a:t>
              </a:r>
              <a:endParaRPr b="0" sz="1050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endParaRPr>
            </a:p>
            <a:p>
              <a:pPr indent="-295275" lvl="0" marL="457200" rtl="0" algn="l">
                <a:spcBef>
                  <a:spcPts val="1200"/>
                </a:spcBef>
                <a:spcAft>
                  <a:spcPts val="0"/>
                </a:spcAft>
                <a:buClr>
                  <a:srgbClr val="475569"/>
                </a:buClr>
                <a:buSzPts val="1050"/>
                <a:buFont typeface="Inter"/>
                <a:buChar char="●"/>
              </a:pPr>
              <a:r>
                <a:rPr b="1" lang="es" sz="1050">
                  <a:solidFill>
                    <a:srgbClr val="0284C7"/>
                  </a:solidFill>
                  <a:latin typeface="Inter"/>
                  <a:ea typeface="Inter"/>
                  <a:cs typeface="Inter"/>
                  <a:sym typeface="Inter"/>
                </a:rPr>
                <a:t>Entorno:</a:t>
              </a:r>
              <a:r>
                <a:rPr b="0" lang="es" sz="1050">
                  <a:solidFill>
                    <a:srgbClr val="475569"/>
                  </a:solidFill>
                  <a:latin typeface="Inter"/>
                  <a:ea typeface="Inter"/>
                  <a:cs typeface="Inter"/>
                  <a:sym typeface="Inter"/>
                </a:rPr>
                <a:t xml:space="preserve"> sistema completo en Docker, con migraciones.</a:t>
              </a:r>
              <a:endParaRPr b="0" sz="1050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</p:grpSp>
      <p:grpSp>
        <p:nvGrpSpPr>
          <p:cNvPr id="183" name="Google Shape;183;p25"/>
          <p:cNvGrpSpPr/>
          <p:nvPr/>
        </p:nvGrpSpPr>
        <p:grpSpPr>
          <a:xfrm>
            <a:off x="4762500" y="1381125"/>
            <a:ext cx="3905400" cy="3048000"/>
            <a:chOff x="0" y="0"/>
            <a:chExt cx="3905400" cy="3048000"/>
          </a:xfrm>
        </p:grpSpPr>
        <p:sp>
          <p:nvSpPr>
            <p:cNvPr id="184" name="Google Shape;184;p25"/>
            <p:cNvSpPr/>
            <p:nvPr/>
          </p:nvSpPr>
          <p:spPr>
            <a:xfrm>
              <a:off x="0" y="0"/>
              <a:ext cx="3905400" cy="3048000"/>
            </a:xfrm>
            <a:prstGeom prst="roundRect">
              <a:avLst>
                <a:gd fmla="val 2500" name="adj"/>
              </a:avLst>
            </a:prstGeom>
            <a:solidFill>
              <a:srgbClr val="FFFFFF"/>
            </a:solidFill>
            <a:ln cap="flat" cmpd="sng" w="9525">
              <a:solidFill>
                <a:srgbClr val="E2E8F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85" name="Google Shape;185;p25"/>
            <p:cNvSpPr/>
            <p:nvPr/>
          </p:nvSpPr>
          <p:spPr>
            <a:xfrm>
              <a:off x="0" y="0"/>
              <a:ext cx="57300" cy="3048000"/>
            </a:xfrm>
            <a:prstGeom prst="roundRect">
              <a:avLst>
                <a:gd fmla="val 50000" name="adj"/>
              </a:avLst>
            </a:prstGeom>
            <a:solidFill>
              <a:srgbClr val="0284C7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86" name="Google Shape;186;p25"/>
            <p:cNvSpPr txBox="1"/>
            <p:nvPr/>
          </p:nvSpPr>
          <p:spPr>
            <a:xfrm>
              <a:off x="238125" y="238125"/>
              <a:ext cx="3429000" cy="2571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s" sz="1400">
                  <a:solidFill>
                    <a:srgbClr val="0F172A"/>
                  </a:solidFill>
                  <a:latin typeface="Plus Jakarta Sans"/>
                  <a:ea typeface="Plus Jakarta Sans"/>
                  <a:cs typeface="Plus Jakarta Sans"/>
                  <a:sym typeface="Plus Jakarta Sans"/>
                </a:rPr>
                <a:t>Pruebas y documentación</a:t>
              </a:r>
              <a:endParaRPr b="1" sz="1400">
                <a:solidFill>
                  <a:srgbClr val="0F172A"/>
                </a:solidFill>
                <a:latin typeface="Plus Jakarta Sans"/>
                <a:ea typeface="Plus Jakarta Sans"/>
                <a:cs typeface="Plus Jakarta Sans"/>
                <a:sym typeface="Plus Jakarta Sans"/>
              </a:endParaRPr>
            </a:p>
            <a:p>
              <a:pPr indent="-295275" lvl="0" marL="457200" rtl="0" algn="l">
                <a:spcBef>
                  <a:spcPts val="1200"/>
                </a:spcBef>
                <a:spcAft>
                  <a:spcPts val="0"/>
                </a:spcAft>
                <a:buClr>
                  <a:srgbClr val="475569"/>
                </a:buClr>
                <a:buSzPts val="1050"/>
                <a:buFont typeface="Inter"/>
                <a:buChar char="●"/>
              </a:pPr>
              <a:r>
                <a:rPr b="1" lang="es" sz="1050">
                  <a:solidFill>
                    <a:srgbClr val="0284C7"/>
                  </a:solidFill>
                  <a:latin typeface="Inter"/>
                  <a:ea typeface="Inter"/>
                  <a:cs typeface="Inter"/>
                  <a:sym typeface="Inter"/>
                </a:rPr>
                <a:t>Pruebas:</a:t>
              </a:r>
              <a:r>
                <a:rPr b="0" lang="es" sz="1050">
                  <a:solidFill>
                    <a:srgbClr val="475569"/>
                  </a:solidFill>
                  <a:latin typeface="Inter"/>
                  <a:ea typeface="Inter"/>
                  <a:cs typeface="Inter"/>
                  <a:sym typeface="Inter"/>
                </a:rPr>
                <a:t xml:space="preserve"> 46 aprobadas (15 HTTP, 14 automáticas y 17 de QA).</a:t>
              </a:r>
              <a:endParaRPr b="0" sz="1050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endParaRPr>
            </a:p>
            <a:p>
              <a:pPr indent="-295275" lvl="0" marL="457200" rtl="0" algn="l">
                <a:spcBef>
                  <a:spcPts val="1200"/>
                </a:spcBef>
                <a:spcAft>
                  <a:spcPts val="0"/>
                </a:spcAft>
                <a:buClr>
                  <a:srgbClr val="475569"/>
                </a:buClr>
                <a:buSzPts val="1050"/>
                <a:buFont typeface="Inter"/>
                <a:buChar char="●"/>
              </a:pPr>
              <a:r>
                <a:rPr b="1" lang="es" sz="1050">
                  <a:solidFill>
                    <a:srgbClr val="0284C7"/>
                  </a:solidFill>
                  <a:latin typeface="Inter"/>
                  <a:ea typeface="Inter"/>
                  <a:cs typeface="Inter"/>
                  <a:sym typeface="Inter"/>
                </a:rPr>
                <a:t>Documentos:</a:t>
              </a:r>
              <a:r>
                <a:rPr b="0" lang="es" sz="1050">
                  <a:solidFill>
                    <a:srgbClr val="475569"/>
                  </a:solidFill>
                  <a:latin typeface="Inter"/>
                  <a:ea typeface="Inter"/>
                  <a:cs typeface="Inter"/>
                  <a:sym typeface="Inter"/>
                </a:rPr>
                <a:t xml:space="preserve"> Vision, Backlog, Sprint Backlog, DoD y Diseño.</a:t>
              </a:r>
              <a:endParaRPr b="0" sz="1050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endParaRPr>
            </a:p>
            <a:p>
              <a:pPr indent="-295275" lvl="0" marL="457200" rtl="0" algn="l">
                <a:spcBef>
                  <a:spcPts val="1200"/>
                </a:spcBef>
                <a:spcAft>
                  <a:spcPts val="0"/>
                </a:spcAft>
                <a:buClr>
                  <a:srgbClr val="475569"/>
                </a:buClr>
                <a:buSzPts val="1050"/>
                <a:buFont typeface="Inter"/>
                <a:buChar char="●"/>
              </a:pPr>
              <a:r>
                <a:rPr b="1" lang="es" sz="1050">
                  <a:solidFill>
                    <a:srgbClr val="0284C7"/>
                  </a:solidFill>
                  <a:latin typeface="Inter"/>
                  <a:ea typeface="Inter"/>
                  <a:cs typeface="Inter"/>
                  <a:sym typeface="Inter"/>
                </a:rPr>
                <a:t>Siguiente paso:</a:t>
              </a:r>
              <a:r>
                <a:rPr b="0" lang="es" sz="1050">
                  <a:solidFill>
                    <a:srgbClr val="475569"/>
                  </a:solidFill>
                  <a:latin typeface="Inter"/>
                  <a:ea typeface="Inter"/>
                  <a:cs typeface="Inter"/>
                  <a:sym typeface="Inter"/>
                </a:rPr>
                <a:t xml:space="preserve"> E2 desde el 19/10, según la Carta Gantt.</a:t>
              </a:r>
              <a:endParaRPr b="0" sz="1050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</p:grp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/>
          <p:nvPr/>
        </p:nvSpPr>
        <p:spPr>
          <a:xfrm>
            <a:off x="2880600" y="0"/>
            <a:ext cx="6263400" cy="5173800"/>
          </a:xfrm>
          <a:prstGeom prst="rect">
            <a:avLst/>
          </a:prstGeom>
          <a:solidFill>
            <a:srgbClr val="C9DAF8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u="sng">
              <a:solidFill>
                <a:srgbClr val="4A86E8"/>
              </a:solidFill>
            </a:endParaRPr>
          </a:p>
        </p:txBody>
      </p:sp>
      <p:sp>
        <p:nvSpPr>
          <p:cNvPr id="193" name="Google Shape;193;p26"/>
          <p:cNvSpPr/>
          <p:nvPr/>
        </p:nvSpPr>
        <p:spPr>
          <a:xfrm>
            <a:off x="0" y="-22234"/>
            <a:ext cx="2880600" cy="5173800"/>
          </a:xfrm>
          <a:prstGeom prst="rect">
            <a:avLst/>
          </a:prstGeom>
          <a:solidFill>
            <a:srgbClr val="6D9EEB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26"/>
          <p:cNvSpPr/>
          <p:nvPr/>
        </p:nvSpPr>
        <p:spPr>
          <a:xfrm>
            <a:off x="1843715" y="2331292"/>
            <a:ext cx="582900" cy="582900"/>
          </a:xfrm>
          <a:prstGeom prst="ellipse">
            <a:avLst/>
          </a:prstGeom>
          <a:solidFill>
            <a:srgbClr val="F2A73B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5" name="Google Shape;195;p26"/>
          <p:cNvSpPr txBox="1"/>
          <p:nvPr/>
        </p:nvSpPr>
        <p:spPr>
          <a:xfrm>
            <a:off x="3125546" y="1802550"/>
            <a:ext cx="19587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600"/>
              <a:buFont typeface="Cambria"/>
              <a:buNone/>
            </a:pPr>
            <a:r>
              <a:rPr b="1" i="0" lang="es" sz="3600" u="none" cap="none" strike="noStrike">
                <a:solidFill>
                  <a:schemeClr val="dk1"/>
                </a:solidFill>
                <a:latin typeface="Cambria"/>
                <a:ea typeface="Cambria"/>
                <a:cs typeface="Cambria"/>
                <a:sym typeface="Cambria"/>
              </a:rPr>
              <a:t>Gracias</a:t>
            </a:r>
            <a:endParaRPr b="0" i="0" sz="3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6" name="Google Shape;196;p26"/>
          <p:cNvSpPr txBox="1"/>
          <p:nvPr/>
        </p:nvSpPr>
        <p:spPr>
          <a:xfrm>
            <a:off x="1785569" y="2451295"/>
            <a:ext cx="65151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8FBF9F"/>
              </a:buClr>
              <a:buSzPts val="1200"/>
              <a:buFont typeface="Calibri"/>
              <a:buNone/>
            </a:pPr>
            <a:r>
              <a:rPr b="0" i="1" lang="e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A2D_SM — Sistema de Trazabilidad para Planta Procesadora de Fruta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7" name="Google Shape;197;p26"/>
          <p:cNvSpPr txBox="1"/>
          <p:nvPr/>
        </p:nvSpPr>
        <p:spPr>
          <a:xfrm>
            <a:off x="73550" y="4100100"/>
            <a:ext cx="2550000" cy="582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-2921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Calibri"/>
              <a:buChar char="●"/>
            </a:pPr>
            <a:r>
              <a:rPr b="0" i="0" lang="es" sz="1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Alejandro Rodríguez  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2921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Calibri"/>
              <a:buChar char="●"/>
            </a:pPr>
            <a:r>
              <a:rPr b="0" i="0" lang="es" sz="1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Diego Carrillo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2921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Calibri"/>
              <a:buChar char="●"/>
            </a:pPr>
            <a:r>
              <a:rPr b="0" i="0" lang="es" sz="1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Angelo Galindo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http://www.duoc.cl/normasgraficas/normasgraficas/marca-duoc/6logo-fondo-transparente/fondo-transparente.png" id="198" name="Google Shape;198;p2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786525" y="205225"/>
            <a:ext cx="2000250" cy="4286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19"/>
          <p:cNvSpPr txBox="1"/>
          <p:nvPr/>
        </p:nvSpPr>
        <p:spPr>
          <a:xfrm>
            <a:off x="381000" y="381000"/>
            <a:ext cx="8382000" cy="571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s" sz="2600">
                <a:solidFill>
                  <a:srgbClr val="0F172A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Nuestro desarrollo profesional</a:t>
            </a:r>
            <a:endParaRPr b="1" sz="2600">
              <a:solidFill>
                <a:srgbClr val="0F172A"/>
              </a:solidFill>
              <a:latin typeface="Plus Jakarta Sans"/>
              <a:ea typeface="Plus Jakarta Sans"/>
              <a:cs typeface="Plus Jakarta Sans"/>
              <a:sym typeface="Plus Jakarta Sans"/>
            </a:endParaRPr>
          </a:p>
        </p:txBody>
      </p:sp>
      <p:grpSp>
        <p:nvGrpSpPr>
          <p:cNvPr id="97" name="Google Shape;97;p19"/>
          <p:cNvGrpSpPr/>
          <p:nvPr/>
        </p:nvGrpSpPr>
        <p:grpSpPr>
          <a:xfrm>
            <a:off x="381000" y="1238250"/>
            <a:ext cx="1952700" cy="3238500"/>
            <a:chOff x="0" y="0"/>
            <a:chExt cx="1952700" cy="3238500"/>
          </a:xfrm>
        </p:grpSpPr>
        <p:sp>
          <p:nvSpPr>
            <p:cNvPr id="98" name="Google Shape;98;p19"/>
            <p:cNvSpPr/>
            <p:nvPr/>
          </p:nvSpPr>
          <p:spPr>
            <a:xfrm>
              <a:off x="0" y="0"/>
              <a:ext cx="1952700" cy="3238500"/>
            </a:xfrm>
            <a:prstGeom prst="roundRect">
              <a:avLst>
                <a:gd fmla="val 3902" name="adj"/>
              </a:avLst>
            </a:prstGeom>
            <a:solidFill>
              <a:srgbClr val="FFFFFF"/>
            </a:solidFill>
            <a:ln cap="flat" cmpd="sng" w="14300">
              <a:solidFill>
                <a:srgbClr val="E2E8F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9" name="Google Shape;99;p19"/>
            <p:cNvSpPr/>
            <p:nvPr/>
          </p:nvSpPr>
          <p:spPr>
            <a:xfrm>
              <a:off x="0" y="0"/>
              <a:ext cx="47700" cy="3238500"/>
            </a:xfrm>
            <a:prstGeom prst="roundRect">
              <a:avLst>
                <a:gd fmla="val 50000" name="adj"/>
              </a:avLst>
            </a:prstGeom>
            <a:solidFill>
              <a:srgbClr val="0284C7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0" name="Google Shape;100;p19"/>
            <p:cNvSpPr txBox="1"/>
            <p:nvPr/>
          </p:nvSpPr>
          <p:spPr>
            <a:xfrm>
              <a:off x="190500" y="723900"/>
              <a:ext cx="1571700" cy="23241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s" sz="1150">
                  <a:solidFill>
                    <a:srgbClr val="0F172A"/>
                  </a:solidFill>
                  <a:latin typeface="Plus Jakarta Sans"/>
                  <a:ea typeface="Plus Jakarta Sans"/>
                  <a:cs typeface="Plus Jakarta Sans"/>
                  <a:sym typeface="Plus Jakarta Sans"/>
                </a:rPr>
                <a:t>Alejandro · PM</a:t>
              </a:r>
              <a:endParaRPr b="1" sz="1150">
                <a:solidFill>
                  <a:srgbClr val="0F172A"/>
                </a:solidFill>
                <a:latin typeface="Plus Jakarta Sans"/>
                <a:ea typeface="Plus Jakarta Sans"/>
                <a:cs typeface="Plus Jakarta Sans"/>
                <a:sym typeface="Plus Jakarta Sans"/>
              </a:endParaRPr>
            </a:p>
            <a:p>
              <a:pPr indent="-288925" lvl="0" marL="457200" rtl="0" algn="l">
                <a:spcBef>
                  <a:spcPts val="900"/>
                </a:spcBef>
                <a:spcAft>
                  <a:spcPts val="0"/>
                </a:spcAft>
                <a:buClr>
                  <a:srgbClr val="475569"/>
                </a:buClr>
                <a:buSzPts val="950"/>
                <a:buFont typeface="Inter"/>
                <a:buChar char="●"/>
              </a:pPr>
              <a:r>
                <a:rPr b="1" lang="es" sz="950">
                  <a:solidFill>
                    <a:srgbClr val="475569"/>
                  </a:solidFill>
                  <a:latin typeface="Inter"/>
                  <a:ea typeface="Inter"/>
                  <a:cs typeface="Inter"/>
                  <a:sym typeface="Inter"/>
                </a:rPr>
                <a:t>Perfil:</a:t>
              </a:r>
              <a:r>
                <a:rPr lang="es" sz="950">
                  <a:solidFill>
                    <a:srgbClr val="475569"/>
                  </a:solidFill>
                  <a:latin typeface="Inter"/>
                  <a:ea typeface="Inter"/>
                  <a:cs typeface="Inter"/>
                  <a:sym typeface="Inter"/>
                </a:rPr>
                <a:t xml:space="preserve"> evaluar y gestionar proyectos</a:t>
              </a:r>
              <a:endParaRPr sz="950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endParaRPr>
            </a:p>
            <a:p>
              <a:pPr indent="-288925" lvl="0" marL="457200" rtl="0" algn="l">
                <a:spcBef>
                  <a:spcPts val="900"/>
                </a:spcBef>
                <a:spcAft>
                  <a:spcPts val="0"/>
                </a:spcAft>
                <a:buClr>
                  <a:srgbClr val="475569"/>
                </a:buClr>
                <a:buSzPts val="950"/>
                <a:buFont typeface="Inter"/>
                <a:buChar char="●"/>
              </a:pPr>
              <a:r>
                <a:rPr lang="es" sz="950">
                  <a:solidFill>
                    <a:srgbClr val="475569"/>
                  </a:solidFill>
                  <a:latin typeface="Inter"/>
                  <a:ea typeface="Inter"/>
                  <a:cs typeface="Inter"/>
                  <a:sym typeface="Inter"/>
                </a:rPr>
                <a:t>Diseño de software y resolución de problemas</a:t>
              </a:r>
              <a:endParaRPr sz="950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endParaRPr>
            </a:p>
            <a:p>
              <a:pPr indent="-288925" lvl="0" marL="457200" rtl="0" algn="l">
                <a:spcBef>
                  <a:spcPts val="900"/>
                </a:spcBef>
                <a:spcAft>
                  <a:spcPts val="0"/>
                </a:spcAft>
                <a:buClr>
                  <a:srgbClr val="475569"/>
                </a:buClr>
                <a:buSzPts val="950"/>
                <a:buFont typeface="Inter"/>
                <a:buChar char="●"/>
              </a:pPr>
              <a:r>
                <a:rPr b="1" lang="es" sz="950">
                  <a:solidFill>
                    <a:srgbClr val="475569"/>
                  </a:solidFill>
                  <a:latin typeface="Inter"/>
                  <a:ea typeface="Inter"/>
                  <a:cs typeface="Inter"/>
                  <a:sym typeface="Inter"/>
                </a:rPr>
                <a:t>Proyección:</a:t>
              </a:r>
              <a:r>
                <a:rPr lang="es" sz="950">
                  <a:solidFill>
                    <a:srgbClr val="475569"/>
                  </a:solidFill>
                  <a:latin typeface="Inter"/>
                  <a:ea typeface="Inter"/>
                  <a:cs typeface="Inter"/>
                  <a:sym typeface="Inter"/>
                </a:rPr>
                <a:t xml:space="preserve"> QA, ciberseguridad o desarrollo</a:t>
              </a:r>
              <a:endParaRPr sz="950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</p:grpSp>
      <p:grpSp>
        <p:nvGrpSpPr>
          <p:cNvPr id="101" name="Google Shape;101;p19"/>
          <p:cNvGrpSpPr/>
          <p:nvPr/>
        </p:nvGrpSpPr>
        <p:grpSpPr>
          <a:xfrm>
            <a:off x="2524125" y="1238250"/>
            <a:ext cx="1952700" cy="3238500"/>
            <a:chOff x="0" y="0"/>
            <a:chExt cx="1952700" cy="3238500"/>
          </a:xfrm>
        </p:grpSpPr>
        <p:sp>
          <p:nvSpPr>
            <p:cNvPr id="102" name="Google Shape;102;p19"/>
            <p:cNvSpPr/>
            <p:nvPr/>
          </p:nvSpPr>
          <p:spPr>
            <a:xfrm>
              <a:off x="0" y="0"/>
              <a:ext cx="1952700" cy="3238500"/>
            </a:xfrm>
            <a:prstGeom prst="roundRect">
              <a:avLst>
                <a:gd fmla="val 3902" name="adj"/>
              </a:avLst>
            </a:prstGeom>
            <a:solidFill>
              <a:srgbClr val="FFFFFF"/>
            </a:solidFill>
            <a:ln cap="flat" cmpd="sng" w="14300">
              <a:solidFill>
                <a:srgbClr val="E2E8F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3" name="Google Shape;103;p19"/>
            <p:cNvSpPr/>
            <p:nvPr/>
          </p:nvSpPr>
          <p:spPr>
            <a:xfrm>
              <a:off x="0" y="0"/>
              <a:ext cx="47700" cy="3238500"/>
            </a:xfrm>
            <a:prstGeom prst="roundRect">
              <a:avLst>
                <a:gd fmla="val 50000" name="adj"/>
              </a:avLst>
            </a:prstGeom>
            <a:solidFill>
              <a:srgbClr val="0284C7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4" name="Google Shape;104;p19"/>
            <p:cNvSpPr txBox="1"/>
            <p:nvPr/>
          </p:nvSpPr>
          <p:spPr>
            <a:xfrm>
              <a:off x="190500" y="723900"/>
              <a:ext cx="1571700" cy="23241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s" sz="1150">
                  <a:solidFill>
                    <a:srgbClr val="0F172A"/>
                  </a:solidFill>
                  <a:latin typeface="Plus Jakarta Sans"/>
                  <a:ea typeface="Plus Jakarta Sans"/>
                  <a:cs typeface="Plus Jakarta Sans"/>
                  <a:sym typeface="Plus Jakarta Sans"/>
                </a:rPr>
                <a:t>Diego · Base de datos</a:t>
              </a:r>
              <a:endParaRPr b="1" sz="1150">
                <a:solidFill>
                  <a:srgbClr val="0F172A"/>
                </a:solidFill>
                <a:latin typeface="Plus Jakarta Sans"/>
                <a:ea typeface="Plus Jakarta Sans"/>
                <a:cs typeface="Plus Jakarta Sans"/>
                <a:sym typeface="Plus Jakarta Sans"/>
              </a:endParaRPr>
            </a:p>
            <a:p>
              <a:pPr indent="-288925" lvl="0" marL="457200" rtl="0" algn="l">
                <a:spcBef>
                  <a:spcPts val="900"/>
                </a:spcBef>
                <a:spcAft>
                  <a:spcPts val="0"/>
                </a:spcAft>
                <a:buClr>
                  <a:srgbClr val="475569"/>
                </a:buClr>
                <a:buSzPts val="950"/>
                <a:buFont typeface="Inter"/>
                <a:buChar char="●"/>
              </a:pPr>
              <a:r>
                <a:rPr b="1" lang="es" sz="950">
                  <a:solidFill>
                    <a:srgbClr val="475569"/>
                  </a:solidFill>
                  <a:latin typeface="Inter"/>
                  <a:ea typeface="Inter"/>
                  <a:cs typeface="Inter"/>
                  <a:sym typeface="Inter"/>
                </a:rPr>
                <a:t>Perfil:</a:t>
              </a:r>
              <a:r>
                <a:rPr lang="es" sz="950">
                  <a:solidFill>
                    <a:srgbClr val="475569"/>
                  </a:solidFill>
                  <a:latin typeface="Inter"/>
                  <a:ea typeface="Inter"/>
                  <a:cs typeface="Inter"/>
                  <a:sym typeface="Inter"/>
                </a:rPr>
                <a:t xml:space="preserve"> bases de datos e ingeniería de requisitos</a:t>
              </a:r>
              <a:endParaRPr sz="950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endParaRPr>
            </a:p>
            <a:p>
              <a:pPr indent="-288925" lvl="0" marL="457200" rtl="0" algn="l">
                <a:spcBef>
                  <a:spcPts val="900"/>
                </a:spcBef>
                <a:spcAft>
                  <a:spcPts val="0"/>
                </a:spcAft>
                <a:buClr>
                  <a:srgbClr val="475569"/>
                </a:buClr>
                <a:buSzPts val="950"/>
                <a:buFont typeface="Inter"/>
                <a:buChar char="●"/>
              </a:pPr>
              <a:r>
                <a:rPr lang="es" sz="950">
                  <a:solidFill>
                    <a:srgbClr val="475569"/>
                  </a:solidFill>
                  <a:latin typeface="Inter"/>
                  <a:ea typeface="Inter"/>
                  <a:cs typeface="Inter"/>
                  <a:sym typeface="Inter"/>
                </a:rPr>
                <a:t>Aprender un negocio nuevo: trazabilidad de fruta</a:t>
              </a:r>
              <a:endParaRPr sz="950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endParaRPr>
            </a:p>
            <a:p>
              <a:pPr indent="-288925" lvl="0" marL="457200" rtl="0" algn="l">
                <a:spcBef>
                  <a:spcPts val="900"/>
                </a:spcBef>
                <a:spcAft>
                  <a:spcPts val="0"/>
                </a:spcAft>
                <a:buClr>
                  <a:srgbClr val="475569"/>
                </a:buClr>
                <a:buSzPts val="950"/>
                <a:buFont typeface="Inter"/>
                <a:buChar char="●"/>
              </a:pPr>
              <a:r>
                <a:rPr b="1" lang="es" sz="950">
                  <a:solidFill>
                    <a:srgbClr val="475569"/>
                  </a:solidFill>
                  <a:latin typeface="Inter"/>
                  <a:ea typeface="Inter"/>
                  <a:cs typeface="Inter"/>
                  <a:sym typeface="Inter"/>
                </a:rPr>
                <a:t>Interés:</a:t>
              </a:r>
              <a:r>
                <a:rPr lang="es" sz="950">
                  <a:solidFill>
                    <a:srgbClr val="475569"/>
                  </a:solidFill>
                  <a:latin typeface="Inter"/>
                  <a:ea typeface="Inter"/>
                  <a:cs typeface="Inter"/>
                  <a:sym typeface="Inter"/>
                </a:rPr>
                <a:t xml:space="preserve"> soporte aplicativo y desarrollo</a:t>
              </a:r>
              <a:endParaRPr sz="950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</p:grpSp>
      <p:grpSp>
        <p:nvGrpSpPr>
          <p:cNvPr id="105" name="Google Shape;105;p19"/>
          <p:cNvGrpSpPr/>
          <p:nvPr/>
        </p:nvGrpSpPr>
        <p:grpSpPr>
          <a:xfrm>
            <a:off x="4667250" y="1238250"/>
            <a:ext cx="1952700" cy="3238500"/>
            <a:chOff x="0" y="0"/>
            <a:chExt cx="1952700" cy="3238500"/>
          </a:xfrm>
        </p:grpSpPr>
        <p:sp>
          <p:nvSpPr>
            <p:cNvPr id="106" name="Google Shape;106;p19"/>
            <p:cNvSpPr/>
            <p:nvPr/>
          </p:nvSpPr>
          <p:spPr>
            <a:xfrm>
              <a:off x="0" y="0"/>
              <a:ext cx="1952700" cy="3238500"/>
            </a:xfrm>
            <a:prstGeom prst="roundRect">
              <a:avLst>
                <a:gd fmla="val 3902" name="adj"/>
              </a:avLst>
            </a:prstGeom>
            <a:solidFill>
              <a:srgbClr val="FFFFFF"/>
            </a:solidFill>
            <a:ln cap="flat" cmpd="sng" w="14300">
              <a:solidFill>
                <a:srgbClr val="E2E8F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7" name="Google Shape;107;p19"/>
            <p:cNvSpPr/>
            <p:nvPr/>
          </p:nvSpPr>
          <p:spPr>
            <a:xfrm>
              <a:off x="0" y="0"/>
              <a:ext cx="47700" cy="3238500"/>
            </a:xfrm>
            <a:prstGeom prst="roundRect">
              <a:avLst>
                <a:gd fmla="val 50000" name="adj"/>
              </a:avLst>
            </a:prstGeom>
            <a:solidFill>
              <a:srgbClr val="0284C7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8" name="Google Shape;108;p19"/>
            <p:cNvSpPr txBox="1"/>
            <p:nvPr/>
          </p:nvSpPr>
          <p:spPr>
            <a:xfrm>
              <a:off x="190500" y="723900"/>
              <a:ext cx="1571700" cy="23241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s" sz="1150">
                  <a:solidFill>
                    <a:srgbClr val="0F172A"/>
                  </a:solidFill>
                  <a:latin typeface="Plus Jakarta Sans"/>
                  <a:ea typeface="Plus Jakarta Sans"/>
                  <a:cs typeface="Plus Jakarta Sans"/>
                  <a:sym typeface="Plus Jakarta Sans"/>
                </a:rPr>
                <a:t>Angelo · QA</a:t>
              </a:r>
              <a:endParaRPr b="1" sz="1150">
                <a:solidFill>
                  <a:srgbClr val="0F172A"/>
                </a:solidFill>
                <a:latin typeface="Plus Jakarta Sans"/>
                <a:ea typeface="Plus Jakarta Sans"/>
                <a:cs typeface="Plus Jakarta Sans"/>
                <a:sym typeface="Plus Jakarta Sans"/>
              </a:endParaRPr>
            </a:p>
            <a:p>
              <a:pPr indent="-288925" lvl="0" marL="457200" rtl="0" algn="l">
                <a:spcBef>
                  <a:spcPts val="900"/>
                </a:spcBef>
                <a:spcAft>
                  <a:spcPts val="0"/>
                </a:spcAft>
                <a:buClr>
                  <a:srgbClr val="475569"/>
                </a:buClr>
                <a:buSzPts val="950"/>
                <a:buFont typeface="Inter"/>
                <a:buChar char="●"/>
              </a:pPr>
              <a:r>
                <a:rPr b="1" lang="es" sz="950">
                  <a:solidFill>
                    <a:srgbClr val="475569"/>
                  </a:solidFill>
                  <a:latin typeface="Inter"/>
                  <a:ea typeface="Inter"/>
                  <a:cs typeface="Inter"/>
                  <a:sym typeface="Inter"/>
                </a:rPr>
                <a:t>Perfil:</a:t>
              </a:r>
              <a:r>
                <a:rPr lang="es" sz="950">
                  <a:solidFill>
                    <a:srgbClr val="475569"/>
                  </a:solidFill>
                  <a:latin typeface="Inter"/>
                  <a:ea typeface="Inter"/>
                  <a:cs typeface="Inter"/>
                  <a:sym typeface="Inter"/>
                </a:rPr>
                <a:t xml:space="preserve"> software de calidad y seguro</a:t>
              </a:r>
              <a:endParaRPr sz="950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endParaRPr>
            </a:p>
            <a:p>
              <a:pPr indent="-288925" lvl="0" marL="457200" rtl="0" algn="l">
                <a:spcBef>
                  <a:spcPts val="900"/>
                </a:spcBef>
                <a:spcAft>
                  <a:spcPts val="0"/>
                </a:spcAft>
                <a:buClr>
                  <a:srgbClr val="475569"/>
                </a:buClr>
                <a:buSzPts val="950"/>
                <a:buFont typeface="Inter"/>
                <a:buChar char="●"/>
              </a:pPr>
              <a:r>
                <a:rPr lang="es" sz="950">
                  <a:solidFill>
                    <a:srgbClr val="475569"/>
                  </a:solidFill>
                  <a:latin typeface="Inter"/>
                  <a:ea typeface="Inter"/>
                  <a:cs typeface="Inter"/>
                  <a:sym typeface="Inter"/>
                </a:rPr>
                <a:t>Pruebas de APIs, permisos y seguridad</a:t>
              </a:r>
              <a:endParaRPr sz="950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endParaRPr>
            </a:p>
            <a:p>
              <a:pPr indent="-288925" lvl="0" marL="457200" rtl="0" algn="l">
                <a:spcBef>
                  <a:spcPts val="900"/>
                </a:spcBef>
                <a:spcAft>
                  <a:spcPts val="0"/>
                </a:spcAft>
                <a:buClr>
                  <a:srgbClr val="475569"/>
                </a:buClr>
                <a:buSzPts val="950"/>
                <a:buFont typeface="Inter"/>
                <a:buChar char="●"/>
              </a:pPr>
              <a:r>
                <a:rPr b="1" lang="es" sz="950">
                  <a:solidFill>
                    <a:srgbClr val="475569"/>
                  </a:solidFill>
                  <a:latin typeface="Inter"/>
                  <a:ea typeface="Inter"/>
                  <a:cs typeface="Inter"/>
                  <a:sym typeface="Inter"/>
                </a:rPr>
                <a:t>Proyección:</a:t>
              </a:r>
              <a:r>
                <a:rPr lang="es" sz="950">
                  <a:solidFill>
                    <a:srgbClr val="475569"/>
                  </a:solidFill>
                  <a:latin typeface="Inter"/>
                  <a:ea typeface="Inter"/>
                  <a:cs typeface="Inter"/>
                  <a:sym typeface="Inter"/>
                </a:rPr>
                <a:t xml:space="preserve"> QA Tester y automatización</a:t>
              </a:r>
              <a:endParaRPr sz="950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</p:grpSp>
      <p:grpSp>
        <p:nvGrpSpPr>
          <p:cNvPr id="109" name="Google Shape;109;p19"/>
          <p:cNvGrpSpPr/>
          <p:nvPr/>
        </p:nvGrpSpPr>
        <p:grpSpPr>
          <a:xfrm>
            <a:off x="6810375" y="1238250"/>
            <a:ext cx="1952700" cy="3238500"/>
            <a:chOff x="0" y="0"/>
            <a:chExt cx="1952700" cy="3238500"/>
          </a:xfrm>
        </p:grpSpPr>
        <p:sp>
          <p:nvSpPr>
            <p:cNvPr id="110" name="Google Shape;110;p19"/>
            <p:cNvSpPr/>
            <p:nvPr/>
          </p:nvSpPr>
          <p:spPr>
            <a:xfrm>
              <a:off x="0" y="0"/>
              <a:ext cx="1952700" cy="3238500"/>
            </a:xfrm>
            <a:prstGeom prst="roundRect">
              <a:avLst>
                <a:gd fmla="val 3902" name="adj"/>
              </a:avLst>
            </a:prstGeom>
            <a:solidFill>
              <a:srgbClr val="FFFFFF"/>
            </a:solidFill>
            <a:ln cap="flat" cmpd="sng" w="14300">
              <a:solidFill>
                <a:srgbClr val="E2E8F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1" name="Google Shape;111;p19"/>
            <p:cNvSpPr/>
            <p:nvPr/>
          </p:nvSpPr>
          <p:spPr>
            <a:xfrm>
              <a:off x="0" y="0"/>
              <a:ext cx="47700" cy="3238500"/>
            </a:xfrm>
            <a:prstGeom prst="roundRect">
              <a:avLst>
                <a:gd fmla="val 50000" name="adj"/>
              </a:avLst>
            </a:prstGeom>
            <a:solidFill>
              <a:srgbClr val="0284C7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2" name="Google Shape;112;p19"/>
            <p:cNvSpPr txBox="1"/>
            <p:nvPr/>
          </p:nvSpPr>
          <p:spPr>
            <a:xfrm>
              <a:off x="119275" y="723900"/>
              <a:ext cx="1764000" cy="23241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s" sz="1150">
                  <a:solidFill>
                    <a:srgbClr val="0F172A"/>
                  </a:solidFill>
                  <a:latin typeface="Plus Jakarta Sans"/>
                  <a:ea typeface="Plus Jakarta Sans"/>
                  <a:cs typeface="Plus Jakarta Sans"/>
                  <a:sym typeface="Plus Jakarta Sans"/>
                </a:rPr>
                <a:t>Relevancia profesional</a:t>
              </a:r>
              <a:endParaRPr b="1" sz="1150">
                <a:solidFill>
                  <a:srgbClr val="0F172A"/>
                </a:solidFill>
                <a:latin typeface="Plus Jakarta Sans"/>
                <a:ea typeface="Plus Jakarta Sans"/>
                <a:cs typeface="Plus Jakarta Sans"/>
                <a:sym typeface="Plus Jakarta Sans"/>
              </a:endParaRPr>
            </a:p>
            <a:p>
              <a:pPr indent="-288925" lvl="0" marL="457200" rtl="0" algn="l">
                <a:spcBef>
                  <a:spcPts val="900"/>
                </a:spcBef>
                <a:spcAft>
                  <a:spcPts val="0"/>
                </a:spcAft>
                <a:buClr>
                  <a:srgbClr val="475569"/>
                </a:buClr>
                <a:buSzPts val="950"/>
                <a:buFont typeface="Inter"/>
                <a:buChar char="●"/>
              </a:pPr>
              <a:r>
                <a:rPr lang="es" sz="950">
                  <a:solidFill>
                    <a:srgbClr val="475569"/>
                  </a:solidFill>
                  <a:latin typeface="Inter"/>
                  <a:ea typeface="Inter"/>
                  <a:cs typeface="Inter"/>
                  <a:sym typeface="Inter"/>
                </a:rPr>
                <a:t>Nos introduce al mundo empresarial</a:t>
              </a:r>
              <a:endParaRPr sz="950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endParaRPr>
            </a:p>
            <a:p>
              <a:pPr indent="-288925" lvl="0" marL="457200" rtl="0" algn="l">
                <a:spcBef>
                  <a:spcPts val="900"/>
                </a:spcBef>
                <a:spcAft>
                  <a:spcPts val="0"/>
                </a:spcAft>
                <a:buClr>
                  <a:srgbClr val="475569"/>
                </a:buClr>
                <a:buSzPts val="950"/>
                <a:buFont typeface="Inter"/>
                <a:buChar char="●"/>
              </a:pPr>
              <a:r>
                <a:rPr lang="es" sz="950">
                  <a:solidFill>
                    <a:srgbClr val="475569"/>
                  </a:solidFill>
                  <a:latin typeface="Inter"/>
                  <a:ea typeface="Inter"/>
                  <a:cs typeface="Inter"/>
                  <a:sym typeface="Inter"/>
                </a:rPr>
                <a:t>Implantar un sistema sin interrumpir la producción diaria</a:t>
              </a:r>
              <a:endParaRPr sz="950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endParaRPr>
            </a:p>
            <a:p>
              <a:pPr indent="-288925" lvl="0" marL="457200" rtl="0" algn="l">
                <a:spcBef>
                  <a:spcPts val="900"/>
                </a:spcBef>
                <a:spcAft>
                  <a:spcPts val="0"/>
                </a:spcAft>
                <a:buClr>
                  <a:srgbClr val="475569"/>
                </a:buClr>
                <a:buSzPts val="950"/>
                <a:buFont typeface="Inter"/>
                <a:buChar char="●"/>
              </a:pPr>
              <a:r>
                <a:rPr lang="es" sz="950">
                  <a:solidFill>
                    <a:srgbClr val="475569"/>
                  </a:solidFill>
                  <a:latin typeface="Inter"/>
                  <a:ea typeface="Inter"/>
                  <a:cs typeface="Inter"/>
                  <a:sym typeface="Inter"/>
                </a:rPr>
                <a:t>Trabajo ágil con Scrum y Git</a:t>
              </a:r>
              <a:endParaRPr sz="950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</p:grpSp>
      <p:pic>
        <p:nvPicPr>
          <p:cNvPr descr="image.png" id="113" name="Google Shape;113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100175" y="1325425"/>
            <a:ext cx="514350" cy="5143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14" name="Google Shape;114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86425" y="1325425"/>
            <a:ext cx="514350" cy="5143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15" name="Google Shape;115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3344650" y="1392717"/>
            <a:ext cx="459600" cy="4596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16" name="Google Shape;116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450078" y="1514362"/>
            <a:ext cx="200025" cy="2286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17" name="Google Shape;117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529550" y="1325425"/>
            <a:ext cx="514350" cy="5143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18" name="Google Shape;118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1243050" y="1514362"/>
            <a:ext cx="228600" cy="2286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19" name="Google Shape;119;p19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5500725" y="1468312"/>
            <a:ext cx="285750" cy="2286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20" name="Google Shape;120;p19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7672425" y="1468312"/>
            <a:ext cx="228600" cy="228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