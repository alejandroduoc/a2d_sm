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  <p:sldMasterId id="2147483662" r:id="rId2"/>
  </p:sldMasterIdLst>
  <p:notesMasterIdLst>
    <p:notesMasterId r:id="rId11"/>
  </p:notesMasterIdLst>
  <p:sldIdLst>
    <p:sldId id="256" r:id="rId3"/>
    <p:sldId id="258" r:id="rId4"/>
    <p:sldId id="259" r:id="rId5"/>
    <p:sldId id="260" r:id="rId6"/>
    <p:sldId id="267" r:id="rId7"/>
    <p:sldId id="264" r:id="rId8"/>
    <p:sldId id="265" r:id="rId9"/>
    <p:sldId id="266" r:id="rId10"/>
  </p:sldIdLst>
  <p:sldSz cx="9144000" cy="5143500" type="screen16x9"/>
  <p:notesSz cx="6858000" cy="9144000"/>
  <p:embeddedFontLst>
    <p:embeddedFont>
      <p:font typeface="Cambria" panose="02040503050406030204" pitchFamily="18" charset="0"/>
      <p:regular r:id="rId12"/>
      <p:bold r:id="rId13"/>
      <p:italic r:id="rId14"/>
      <p:boldItalic r:id="rId15"/>
    </p:embeddedFont>
    <p:embeddedFont>
      <p:font typeface="Inter" panose="020B0604020202020204" charset="0"/>
      <p:bold r:id="rId16"/>
      <p:boldItalic r:id="rId17"/>
    </p:embeddedFont>
    <p:embeddedFont>
      <p:font typeface="Inter Medium" panose="020B0604020202020204" charset="0"/>
      <p:regular r:id="rId18"/>
      <p:bold r:id="rId19"/>
      <p:italic r:id="rId20"/>
      <p:boldItalic r:id="rId21"/>
    </p:embeddedFont>
    <p:embeddedFont>
      <p:font typeface="Inter SemiBold" panose="020B0604020202020204" charset="0"/>
      <p:regular r:id="rId22"/>
      <p:bold r:id="rId23"/>
      <p:italic r:id="rId24"/>
      <p:boldItalic r:id="rId25"/>
    </p:embeddedFont>
    <p:embeddedFont>
      <p:font typeface="Plus Jakarta Sans" panose="020B0604020202020204" charset="0"/>
      <p:regular r:id="rId26"/>
      <p:bold r:id="rId27"/>
      <p:italic r:id="rId28"/>
      <p:boldItalic r:id="rId29"/>
    </p:embeddedFont>
    <p:embeddedFont>
      <p:font typeface="Plus Jakarta Sans ExtraBold" panose="020B0604020202020204" charset="0"/>
      <p:bold r:id="rId30"/>
      <p:boldItalic r:id="rId31"/>
    </p:embeddedFont>
    <p:embeddedFont>
      <p:font typeface="Plus Jakarta Sans Medium" panose="020B060402020202020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05F727-CFD4-4E81-9CF6-A8E1723FF7CF}">
  <a:tblStyle styleId="{E605F727-CFD4-4E81-9CF6-A8E1723FF7C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9" Type="http://schemas.openxmlformats.org/officeDocument/2006/relationships/tableStyles" Target="tableStyles.xml"/><Relationship Id="rId21" Type="http://schemas.openxmlformats.org/officeDocument/2006/relationships/font" Target="fonts/font10.fntdata"/><Relationship Id="rId34" Type="http://schemas.openxmlformats.org/officeDocument/2006/relationships/font" Target="fonts/font23.fntdata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33" Type="http://schemas.openxmlformats.org/officeDocument/2006/relationships/font" Target="fonts/font22.fntdata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32" Type="http://schemas.openxmlformats.org/officeDocument/2006/relationships/font" Target="fonts/font21.fntdata"/><Relationship Id="rId37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font" Target="fonts/font17.fntdata"/><Relationship Id="rId36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font" Target="fonts/font8.fntdata"/><Relationship Id="rId31" Type="http://schemas.openxmlformats.org/officeDocument/2006/relationships/font" Target="fonts/font2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font" Target="fonts/font16.fntdata"/><Relationship Id="rId30" Type="http://schemas.openxmlformats.org/officeDocument/2006/relationships/font" Target="fonts/font19.fntdata"/><Relationship Id="rId35" Type="http://schemas.openxmlformats.org/officeDocument/2006/relationships/font" Target="fonts/font24.fntdata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f8aee16b2b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" name="Google Shape;55;g3f8aee16b2b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8aee16b2b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g3f8aee16b2b_1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f8aee16b2b_1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f8aee16b2b_1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8aee16b2b_1_2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g3f8aee16b2b_1_2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9" name="Google Shape;16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8aee16b2b_1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g3f8aee16b2b_1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4164cdfdb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857250"/>
            <a:ext cx="5486400" cy="231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g3f4164cdfdb_0_15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f4164cdfdb_0_15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/>
        </p:nvSpPr>
        <p:spPr>
          <a:xfrm>
            <a:off x="762000" y="762000"/>
            <a:ext cx="7620000" cy="14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5180" b="0">
                <a:solidFill>
                  <a:srgbClr val="0F172A"/>
                </a:solidFill>
                <a:latin typeface="Plus Jakarta Sans ExtraBold"/>
                <a:ea typeface="Plus Jakarta Sans ExtraBold"/>
                <a:cs typeface="Plus Jakarta Sans ExtraBold"/>
                <a:sym typeface="Plus Jakarta Sans ExtraBold"/>
              </a:rPr>
              <a:t>A2D SM</a:t>
            </a:r>
            <a:endParaRPr sz="5180" b="0">
              <a:solidFill>
                <a:srgbClr val="0F172A"/>
              </a:solidFill>
              <a:latin typeface="Plus Jakarta Sans ExtraBold"/>
              <a:ea typeface="Plus Jakarta Sans ExtraBold"/>
              <a:cs typeface="Plus Jakarta Sans ExtraBold"/>
              <a:sym typeface="Plus Jakarta Sans ExtraBold"/>
            </a:endParaRPr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s" sz="1665" b="0">
                <a:solidFill>
                  <a:srgbClr val="0284C7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rPr>
              <a:t>Sistema de trazabilidad para Socradex</a:t>
            </a:r>
            <a:endParaRPr sz="1665" b="0">
              <a:solidFill>
                <a:srgbClr val="0284C7"/>
              </a:solidFill>
              <a:latin typeface="Plus Jakarta Sans Medium"/>
              <a:ea typeface="Plus Jakarta Sans Medium"/>
              <a:cs typeface="Plus Jakarta Sans Medium"/>
              <a:sym typeface="Plus Jakarta Sans Medium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s" sz="1203" b="0">
                <a:solidFill>
                  <a:srgbClr val="64748B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Evaluación Sumativa 2 · Fase 2 · Octubre 2026</a:t>
            </a:r>
            <a:endParaRPr sz="1203" b="0">
              <a:solidFill>
                <a:srgbClr val="64748B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58" name="Google Shape;58;p16"/>
          <p:cNvGrpSpPr/>
          <p:nvPr/>
        </p:nvGrpSpPr>
        <p:grpSpPr>
          <a:xfrm>
            <a:off x="762000" y="2952750"/>
            <a:ext cx="3619500" cy="1428900"/>
            <a:chOff x="0" y="0"/>
            <a:chExt cx="3619500" cy="1428900"/>
          </a:xfrm>
        </p:grpSpPr>
        <p:sp>
          <p:nvSpPr>
            <p:cNvPr id="59" name="Google Shape;59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6"/>
            <p:cNvSpPr/>
            <p:nvPr/>
          </p:nvSpPr>
          <p:spPr>
            <a:xfrm>
              <a:off x="0" y="0"/>
              <a:ext cx="114300" cy="1428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Integrantes del Equipo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s" sz="1200" b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Alejandro Rodríguez</a:t>
              </a:r>
              <a:endParaRPr sz="1200" b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s" sz="1200" b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Diego Carrillo</a:t>
              </a:r>
              <a:endParaRPr sz="1200" b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lang="es" sz="1200" b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Angelo Galindo</a:t>
              </a:r>
              <a:endParaRPr sz="1200" b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62" name="Google Shape;62;p16"/>
          <p:cNvGrpSpPr/>
          <p:nvPr/>
        </p:nvGrpSpPr>
        <p:grpSpPr>
          <a:xfrm>
            <a:off x="4762500" y="2952750"/>
            <a:ext cx="3619500" cy="1428900"/>
            <a:chOff x="0" y="0"/>
            <a:chExt cx="3619500" cy="1428900"/>
          </a:xfrm>
        </p:grpSpPr>
        <p:sp>
          <p:nvSpPr>
            <p:cNvPr id="63" name="Google Shape;63;p16"/>
            <p:cNvSpPr/>
            <p:nvPr/>
          </p:nvSpPr>
          <p:spPr>
            <a:xfrm>
              <a:off x="0" y="0"/>
              <a:ext cx="3619500" cy="14289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6"/>
            <p:cNvSpPr/>
            <p:nvPr/>
          </p:nvSpPr>
          <p:spPr>
            <a:xfrm>
              <a:off x="0" y="0"/>
              <a:ext cx="114300" cy="14289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9600"/>
                  </a:moveTo>
                  <a:cubicBezTo>
                    <a:pt x="0" y="4296"/>
                    <a:pt x="53700" y="0"/>
                    <a:pt x="120000" y="0"/>
                  </a:cubicBezTo>
                  <a:lnTo>
                    <a:pt x="120000" y="120000"/>
                  </a:lnTo>
                  <a:cubicBezTo>
                    <a:pt x="53700" y="120000"/>
                    <a:pt x="0" y="115704"/>
                    <a:pt x="0" y="110400"/>
                  </a:cubicBezTo>
                  <a:close/>
                </a:path>
              </a:pathLst>
            </a:custGeom>
            <a:solidFill>
              <a:srgbClr val="64748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6"/>
            <p:cNvSpPr txBox="1"/>
            <p:nvPr/>
          </p:nvSpPr>
          <p:spPr>
            <a:xfrm>
              <a:off x="228600" y="190500"/>
              <a:ext cx="31623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Escuela &amp; Carrera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lang="es" sz="1200" b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Informática y Telecomunicaciones</a:t>
              </a:r>
              <a:endParaRPr sz="1200" b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150"/>
                </a:spcAft>
                <a:buNone/>
              </a:pPr>
              <a:r>
                <a:rPr lang="es" sz="1200" b="0">
                  <a:solidFill>
                    <a:srgbClr val="475569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Ingeniería en Informática</a:t>
              </a:r>
              <a:endParaRPr sz="1200" b="0">
                <a:solidFill>
                  <a:srgbClr val="475569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66" name="Google Shape;66;p16" descr="http://www.duoc.cl/normasgraficas/normasgraficas/marca-duoc/6logo-fondo-transparente/fondo-transparen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8"/>
          <p:cNvSpPr txBox="1"/>
          <p:nvPr/>
        </p:nvSpPr>
        <p:spPr>
          <a:xfrm>
            <a:off x="476250" y="381000"/>
            <a:ext cx="8191500" cy="4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problema</a:t>
            </a:r>
            <a:endParaRPr sz="2400" b="1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78" name="Google Shape;78;p18"/>
          <p:cNvSpPr txBox="1"/>
          <p:nvPr/>
        </p:nvSpPr>
        <p:spPr>
          <a:xfrm>
            <a:off x="476250" y="952500"/>
            <a:ext cx="39054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 b="0">
                <a:solidFill>
                  <a:srgbClr val="0284C7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 sistema legado que pone en riesgo a la planta</a:t>
            </a:r>
            <a:endParaRPr sz="1200" b="0">
              <a:solidFill>
                <a:srgbClr val="0284C7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79" name="Google Shape;79;p18"/>
          <p:cNvGrpSpPr/>
          <p:nvPr/>
        </p:nvGrpSpPr>
        <p:grpSpPr>
          <a:xfrm>
            <a:off x="476250" y="1333500"/>
            <a:ext cx="3905400" cy="1047900"/>
            <a:chOff x="0" y="0"/>
            <a:chExt cx="3905400" cy="1047900"/>
          </a:xfrm>
        </p:grpSpPr>
        <p:sp>
          <p:nvSpPr>
            <p:cNvPr id="80" name="Google Shape;80;p18"/>
            <p:cNvSpPr/>
            <p:nvPr/>
          </p:nvSpPr>
          <p:spPr>
            <a:xfrm>
              <a:off x="0" y="0"/>
              <a:ext cx="3905400" cy="1047900"/>
            </a:xfrm>
            <a:prstGeom prst="roundRect">
              <a:avLst>
                <a:gd name="adj" fmla="val 7272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8"/>
            <p:cNvSpPr txBox="1"/>
            <p:nvPr/>
          </p:nvSpPr>
          <p:spPr>
            <a:xfrm>
              <a:off x="190500" y="95250"/>
              <a:ext cx="35244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Sistema legado Socradex</a:t>
              </a:r>
              <a:endParaRPr sz="1100" b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2100" algn="l" rtl="0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Escritorio en VB.NET 2008 y PHP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2100" algn="l" rtl="0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Clientes conectados directo a la base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2100" algn="l" rtl="0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Consultas expuestas a inyección SQL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3" name="Google Shape;83;p18"/>
          <p:cNvGrpSpPr/>
          <p:nvPr/>
        </p:nvGrpSpPr>
        <p:grpSpPr>
          <a:xfrm>
            <a:off x="476250" y="2524125"/>
            <a:ext cx="3905400" cy="904800"/>
            <a:chOff x="0" y="0"/>
            <a:chExt cx="3905400" cy="904800"/>
          </a:xfrm>
        </p:grpSpPr>
        <p:sp>
          <p:nvSpPr>
            <p:cNvPr id="84" name="Google Shape;84;p18"/>
            <p:cNvSpPr/>
            <p:nvPr/>
          </p:nvSpPr>
          <p:spPr>
            <a:xfrm>
              <a:off x="0" y="0"/>
              <a:ext cx="3905400" cy="904800"/>
            </a:xfrm>
            <a:prstGeom prst="roundRect">
              <a:avLst>
                <a:gd name="adj" fmla="val 8421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8"/>
            <p:cNvSpPr/>
            <p:nvPr/>
          </p:nvSpPr>
          <p:spPr>
            <a:xfrm>
              <a:off x="0" y="0"/>
              <a:ext cx="57300" cy="9048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8"/>
            <p:cNvSpPr txBox="1"/>
            <p:nvPr/>
          </p:nvSpPr>
          <p:spPr>
            <a:xfrm>
              <a:off x="190500" y="95250"/>
              <a:ext cx="35244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Riesgos para la planta</a:t>
              </a:r>
              <a:endParaRPr sz="1100" b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2100" algn="l" rtl="0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Contraseñas en texto plano y sin auditoría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2100" algn="l" rtl="0">
                <a:spcBef>
                  <a:spcPts val="450"/>
                </a:spcBef>
                <a:spcAft>
                  <a:spcPts val="0"/>
                </a:spcAft>
                <a:buClr>
                  <a:srgbClr val="475569"/>
                </a:buClr>
                <a:buSzPts val="1000"/>
                <a:buFont typeface="Inter"/>
                <a:buChar char="●"/>
              </a:pPr>
              <a:r>
                <a:rPr lang="es" sz="10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Números de tarja que se pueden repetir</a:t>
              </a:r>
              <a:endParaRPr sz="10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7" name="Google Shape;87;p18"/>
          <p:cNvGrpSpPr/>
          <p:nvPr/>
        </p:nvGrpSpPr>
        <p:grpSpPr>
          <a:xfrm>
            <a:off x="476250" y="3619500"/>
            <a:ext cx="8191500" cy="1047900"/>
            <a:chOff x="0" y="0"/>
            <a:chExt cx="8191500" cy="1047900"/>
          </a:xfrm>
        </p:grpSpPr>
        <p:sp>
          <p:nvSpPr>
            <p:cNvPr id="88" name="Google Shape;88;p18"/>
            <p:cNvSpPr/>
            <p:nvPr/>
          </p:nvSpPr>
          <p:spPr>
            <a:xfrm>
              <a:off x="0" y="0"/>
              <a:ext cx="8191500" cy="1047900"/>
            </a:xfrm>
            <a:prstGeom prst="roundRect">
              <a:avLst>
                <a:gd name="adj" fmla="val 7272"/>
              </a:avLst>
            </a:prstGeom>
            <a:solidFill>
              <a:srgbClr val="F8FAFC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8"/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8"/>
            <p:cNvSpPr txBox="1"/>
            <p:nvPr/>
          </p:nvSpPr>
          <p:spPr>
            <a:xfrm>
              <a:off x="190500" y="114300"/>
              <a:ext cx="7810500" cy="81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00" b="1" dirty="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Por qué importa</a:t>
              </a:r>
              <a:endParaRPr sz="110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s" sz="100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La planta registra en este sistema la recepción y el procesamiento de la fruta. Un error o un ataque puede alterar kilos y tarjas sin dejar rastro, y la modernización no puede detener la producción.</a:t>
              </a:r>
              <a:endParaRPr sz="10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91" name="Google Shape;91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2" y="1046875"/>
            <a:ext cx="4021800" cy="22383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6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El producto: A2D SM, web en 3 capas</a:t>
            </a:r>
            <a:endParaRPr sz="2600" b="1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3238500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E1 · Autenticación</a:t>
              </a:r>
              <a:endParaRPr sz="115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Login con JWT y 4 roles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Gestión de usuarios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Permisos por rol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3238500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E2 · Maestros core</a:t>
              </a:r>
              <a:endParaRPr sz="115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Productores con RUT validado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Catálogos de la planta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Auditoría automática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3238500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E3 · Recepción</a:t>
              </a:r>
              <a:endParaRPr sz="115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Tarja numerada sin duplicados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Cálculo de kilos netos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Stock de bandejas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3238500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E4 · Procesamiento</a:t>
              </a:r>
              <a:endParaRPr sz="115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Consumo parcial de tarjas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Rendimiento y merma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Trazabilidad por tarja</a:t>
              </a:r>
              <a:endParaRPr sz="9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13" name="Google Shape;11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20"/>
          <p:cNvGrpSpPr/>
          <p:nvPr/>
        </p:nvGrpSpPr>
        <p:grpSpPr>
          <a:xfrm>
            <a:off x="476250" y="381000"/>
            <a:ext cx="8191500" cy="571500"/>
            <a:chOff x="0" y="0"/>
            <a:chExt cx="8191500" cy="571500"/>
          </a:xfrm>
        </p:grpSpPr>
        <p:sp>
          <p:nvSpPr>
            <p:cNvPr id="126" name="Google Shape;126;p20"/>
            <p:cNvSpPr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0" y="0"/>
              <a:ext cx="8191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260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Vínculo con el perfil de egreso</a:t>
              </a:r>
              <a:endParaRPr sz="26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128" name="Google Shape;128;p20"/>
          <p:cNvGrpSpPr/>
          <p:nvPr/>
        </p:nvGrpSpPr>
        <p:grpSpPr>
          <a:xfrm>
            <a:off x="476250" y="1238250"/>
            <a:ext cx="3905400" cy="3238500"/>
            <a:chOff x="0" y="0"/>
            <a:chExt cx="3905400" cy="3238500"/>
          </a:xfrm>
        </p:grpSpPr>
        <p:sp>
          <p:nvSpPr>
            <p:cNvPr id="129" name="Google Shape;129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name="adj" fmla="val 2352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20"/>
            <p:cNvSpPr txBox="1"/>
            <p:nvPr/>
          </p:nvSpPr>
          <p:spPr>
            <a:xfrm>
              <a:off x="151625" y="238050"/>
              <a:ext cx="35745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0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Competencias del perfil de egreso</a:t>
              </a:r>
              <a:endParaRPr sz="1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98450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Evaluar y gestionar proyectos en todo su ciclo de vida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8450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soluciones de información con bases de datos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8450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y adaptar procesos de ingeniería de requisitos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8450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Diseñar software con foco en calidad y seguridad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20"/>
          <p:cNvGrpSpPr/>
          <p:nvPr/>
        </p:nvGrpSpPr>
        <p:grpSpPr>
          <a:xfrm>
            <a:off x="4762500" y="1238250"/>
            <a:ext cx="3905400" cy="3238500"/>
            <a:chOff x="0" y="0"/>
            <a:chExt cx="3905400" cy="3238500"/>
          </a:xfrm>
        </p:grpSpPr>
        <p:sp>
          <p:nvSpPr>
            <p:cNvPr id="133" name="Google Shape;133;p20"/>
            <p:cNvSpPr/>
            <p:nvPr/>
          </p:nvSpPr>
          <p:spPr>
            <a:xfrm>
              <a:off x="0" y="0"/>
              <a:ext cx="3905400" cy="3238500"/>
            </a:xfrm>
            <a:prstGeom prst="roundRect">
              <a:avLst>
                <a:gd name="adj" fmla="val 2352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20"/>
            <p:cNvSpPr/>
            <p:nvPr/>
          </p:nvSpPr>
          <p:spPr>
            <a:xfrm>
              <a:off x="0" y="0"/>
              <a:ext cx="573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20"/>
            <p:cNvSpPr txBox="1"/>
            <p:nvPr/>
          </p:nvSpPr>
          <p:spPr>
            <a:xfrm>
              <a:off x="238125" y="238125"/>
              <a:ext cx="3429000" cy="276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0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Cómo lo evidencia A2D SM</a:t>
              </a:r>
              <a:endParaRPr sz="1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98450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Scrum, Poker Planning y Carta Gantt: 4 épicas, 84 SP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8450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Modelo E-R de 14 tablas en SQL Server, con migraciones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8450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Requisitos obtenidos del código del legado e historias de usuario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8450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100"/>
                <a:buFont typeface="Inter"/>
                <a:buChar char="●"/>
              </a:pPr>
              <a:r>
                <a:rPr lang="es" sz="110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JWT, bcrypt, permisos por rol y 46 pruebas aprobadas</a:t>
              </a:r>
              <a:endParaRPr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/>
        </p:nvSpPr>
        <p:spPr>
          <a:xfrm>
            <a:off x="381000" y="38100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6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Nuestro desarrollo profesional</a:t>
            </a:r>
            <a:endParaRPr sz="2600" b="1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grpSp>
        <p:nvGrpSpPr>
          <p:cNvPr id="97" name="Google Shape;97;p19"/>
          <p:cNvGrpSpPr/>
          <p:nvPr/>
        </p:nvGrpSpPr>
        <p:grpSpPr>
          <a:xfrm>
            <a:off x="381000" y="1238250"/>
            <a:ext cx="1952700" cy="2925041"/>
            <a:chOff x="0" y="0"/>
            <a:chExt cx="1952700" cy="3238500"/>
          </a:xfrm>
        </p:grpSpPr>
        <p:sp>
          <p:nvSpPr>
            <p:cNvPr id="98" name="Google Shape;98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 dirty="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Alejandro · PM</a:t>
              </a:r>
              <a:endParaRPr sz="1150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b="1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evaluar y gestionar proyectos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Diseño de software y resolución de problemas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b="1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Proyección:</a:t>
              </a: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QA, ciberseguridad o desarrollo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1" name="Google Shape;101;p19"/>
          <p:cNvGrpSpPr/>
          <p:nvPr/>
        </p:nvGrpSpPr>
        <p:grpSpPr>
          <a:xfrm>
            <a:off x="2524125" y="1238250"/>
            <a:ext cx="1952700" cy="2925041"/>
            <a:chOff x="0" y="0"/>
            <a:chExt cx="1952700" cy="3238500"/>
          </a:xfrm>
        </p:grpSpPr>
        <p:sp>
          <p:nvSpPr>
            <p:cNvPr id="102" name="Google Shape;102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 dirty="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Diego · Base de datos</a:t>
              </a:r>
              <a:endParaRPr sz="1150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b="1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bases de datos e ingeniería de requisitos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Aprender un negocio nuevo: trazabilidad de fruta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b="1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Interés:</a:t>
              </a: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soporte aplicativo y desarrollo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19"/>
          <p:cNvGrpSpPr/>
          <p:nvPr/>
        </p:nvGrpSpPr>
        <p:grpSpPr>
          <a:xfrm>
            <a:off x="4667250" y="1238250"/>
            <a:ext cx="1952700" cy="2925041"/>
            <a:chOff x="0" y="0"/>
            <a:chExt cx="1952700" cy="3238500"/>
          </a:xfrm>
        </p:grpSpPr>
        <p:sp>
          <p:nvSpPr>
            <p:cNvPr id="106" name="Google Shape;106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9"/>
            <p:cNvSpPr txBox="1"/>
            <p:nvPr/>
          </p:nvSpPr>
          <p:spPr>
            <a:xfrm>
              <a:off x="190500" y="723900"/>
              <a:ext cx="15717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 dirty="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Angelo · QA</a:t>
              </a:r>
              <a:endParaRPr sz="1150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b="1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Perfil:</a:t>
              </a: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software de calidad y seguro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Pruebas de APIs, permisos y seguridad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b="1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Proyección:</a:t>
              </a: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QA Tester y automatización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9" name="Google Shape;109;p19"/>
          <p:cNvGrpSpPr/>
          <p:nvPr/>
        </p:nvGrpSpPr>
        <p:grpSpPr>
          <a:xfrm>
            <a:off x="6810375" y="1238250"/>
            <a:ext cx="1952700" cy="2925041"/>
            <a:chOff x="0" y="0"/>
            <a:chExt cx="1952700" cy="3238500"/>
          </a:xfrm>
        </p:grpSpPr>
        <p:sp>
          <p:nvSpPr>
            <p:cNvPr id="110" name="Google Shape;110;p19"/>
            <p:cNvSpPr/>
            <p:nvPr/>
          </p:nvSpPr>
          <p:spPr>
            <a:xfrm>
              <a:off x="0" y="0"/>
              <a:ext cx="1952700" cy="3238500"/>
            </a:xfrm>
            <a:prstGeom prst="roundRect">
              <a:avLst>
                <a:gd name="adj" fmla="val 3902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0" y="0"/>
              <a:ext cx="47700" cy="32385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119275" y="723900"/>
              <a:ext cx="1764000" cy="23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50" b="1" dirty="0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Como equipo</a:t>
              </a:r>
              <a:endParaRPr sz="1150" b="1" dirty="0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Proyecto industrial real, no simulado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Trabajo ágil con Scrum y Git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88925" algn="l" rtl="0">
                <a:spcBef>
                  <a:spcPts val="900"/>
                </a:spcBef>
                <a:spcAft>
                  <a:spcPts val="0"/>
                </a:spcAft>
                <a:buClr>
                  <a:srgbClr val="475569"/>
                </a:buClr>
                <a:buSzPts val="950"/>
                <a:buFont typeface="Inter"/>
                <a:buChar char="●"/>
              </a:pPr>
              <a:r>
                <a:rPr lang="es" sz="95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Decisiones con fecha y motivo</a:t>
              </a:r>
              <a:endParaRPr sz="9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113" name="Google Shape;113;p19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0017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9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386425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44650" y="1392717"/>
            <a:ext cx="459600" cy="45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0078" y="151436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 descr="imag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29550" y="1325425"/>
            <a:ext cx="51435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43050" y="15143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500725" y="146831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72425" y="1468312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" name="Google Shape;87;p18">
            <a:extLst>
              <a:ext uri="{FF2B5EF4-FFF2-40B4-BE49-F238E27FC236}">
                <a16:creationId xmlns:a16="http://schemas.microsoft.com/office/drawing/2014/main" id="{CC8B6FEE-3C04-45CE-B7A9-FE9E61849FF0}"/>
              </a:ext>
            </a:extLst>
          </p:cNvPr>
          <p:cNvGrpSpPr/>
          <p:nvPr/>
        </p:nvGrpSpPr>
        <p:grpSpPr>
          <a:xfrm>
            <a:off x="381000" y="4163291"/>
            <a:ext cx="8381999" cy="795189"/>
            <a:chOff x="0" y="0"/>
            <a:chExt cx="8191500" cy="1121685"/>
          </a:xfrm>
        </p:grpSpPr>
        <p:sp>
          <p:nvSpPr>
            <p:cNvPr id="3" name="Google Shape;88;p18">
              <a:extLst>
                <a:ext uri="{FF2B5EF4-FFF2-40B4-BE49-F238E27FC236}">
                  <a16:creationId xmlns:a16="http://schemas.microsoft.com/office/drawing/2014/main" id="{6E10FD3C-C2E8-300A-2046-A7DDD63698D0}"/>
                </a:ext>
              </a:extLst>
            </p:cNvPr>
            <p:cNvSpPr/>
            <p:nvPr/>
          </p:nvSpPr>
          <p:spPr>
            <a:xfrm>
              <a:off x="0" y="73785"/>
              <a:ext cx="8191500" cy="1047900"/>
            </a:xfrm>
            <a:prstGeom prst="roundRect">
              <a:avLst>
                <a:gd name="adj" fmla="val 7272"/>
              </a:avLst>
            </a:prstGeom>
            <a:solidFill>
              <a:srgbClr val="F8FAFC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89;p18">
              <a:extLst>
                <a:ext uri="{FF2B5EF4-FFF2-40B4-BE49-F238E27FC236}">
                  <a16:creationId xmlns:a16="http://schemas.microsoft.com/office/drawing/2014/main" id="{84C19A22-629A-A8E7-0F48-F96DCAC53C90}"/>
                </a:ext>
              </a:extLst>
            </p:cNvPr>
            <p:cNvSpPr/>
            <p:nvPr/>
          </p:nvSpPr>
          <p:spPr>
            <a:xfrm>
              <a:off x="0" y="0"/>
              <a:ext cx="57300" cy="1047900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90;p18">
              <a:extLst>
                <a:ext uri="{FF2B5EF4-FFF2-40B4-BE49-F238E27FC236}">
                  <a16:creationId xmlns:a16="http://schemas.microsoft.com/office/drawing/2014/main" id="{AEB8F516-A7D5-2417-3EBB-E4D3E5578A38}"/>
                </a:ext>
              </a:extLst>
            </p:cNvPr>
            <p:cNvSpPr txBox="1"/>
            <p:nvPr/>
          </p:nvSpPr>
          <p:spPr>
            <a:xfrm>
              <a:off x="190500" y="403076"/>
              <a:ext cx="7810500" cy="530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100" b="1" dirty="0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Relevancia profesional</a:t>
              </a:r>
              <a:endParaRPr sz="110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s" sz="1000" dirty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Nos enfrenta a un escenario altamente común en la industria chilena, como lo es la modernización de un sistema de negocios, sin detener la producción de la empresa y tener que saber cumplir con los tiempos de entrega y las posibles eventualidades.</a:t>
              </a:r>
              <a:endParaRPr sz="10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es" sz="255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Plan de trabajo y avance</a:t>
            </a:r>
            <a:endParaRPr/>
          </a:p>
        </p:txBody>
      </p:sp>
      <p:graphicFrame>
        <p:nvGraphicFramePr>
          <p:cNvPr id="172" name="Google Shape;172;p24"/>
          <p:cNvGraphicFramePr/>
          <p:nvPr/>
        </p:nvGraphicFramePr>
        <p:xfrm>
          <a:off x="311700" y="115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{E605F727-CFD4-4E81-9CF6-A8E1723FF7CF}</a:tableStyleId>
              </a:tblPr>
              <a:tblGrid>
                <a:gridCol w="2556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2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8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900" b="1" u="none" strike="noStrike" cap="non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Actividad (Carta Gantt)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900" b="1" u="none" strike="noStrike" cap="non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Semanas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900" b="1" u="none" strike="noStrike" cap="non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Responsable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900" b="1" u="none" strike="noStrike" cap="none">
                          <a:solidFill>
                            <a:srgbClr val="FFFFFF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Estado al 17/10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6FA8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Definición del Proyecto APT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S1–S4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Modelo E-R y arquitectura base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S5–S6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Diego Carrillo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Terminada; modelo rediseñado el 04/10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E1: Autenticación y RBAC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S7–S8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Terminada el 04/10 (S6); menú por rol parcial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E2: Maestros core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S9–S10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Inicia el 19/10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E3: Recepción de tarjas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S11–S12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Épica E4: Procesamiento y auditoría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S13–S14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Por asignar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Pruebas funcionales y no funcionales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S15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Angelo Galindo (QA)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1" u="none" strike="noStrike" cap="none">
                          <a:solidFill>
                            <a:srgbClr val="0F172A"/>
                          </a:solidFill>
                          <a:latin typeface="Plus Jakarta Sans"/>
                          <a:ea typeface="Plus Jakarta Sans"/>
                          <a:cs typeface="Plus Jakarta Sans"/>
                          <a:sym typeface="Plus Jakarta Sans"/>
                        </a:rPr>
                        <a:t>Cierre y entrega final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S16–S18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Todo el equipo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800" b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Planificada</a:t>
                      </a:r>
                      <a:endParaRPr/>
                    </a:p>
                  </a:txBody>
                  <a:tcPr marL="45700" marR="45700" marT="18000" marB="180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E2E8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E2E8F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3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>
            <a:spLocks noGrp="1"/>
          </p:cNvSpPr>
          <p:nvPr>
            <p:ph type="title"/>
          </p:nvPr>
        </p:nvSpPr>
        <p:spPr>
          <a:xfrm>
            <a:off x="476250" y="381000"/>
            <a:ext cx="8191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6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Avance a la fecha</a:t>
            </a:r>
            <a:endParaRPr sz="2600" b="1">
              <a:solidFill>
                <a:srgbClr val="0F172A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178" name="Google Shape;178;p25"/>
          <p:cNvSpPr txBox="1"/>
          <p:nvPr/>
        </p:nvSpPr>
        <p:spPr>
          <a:xfrm>
            <a:off x="476250" y="904875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Semana S8 (17/10/2026): Épica 1 terminada y documentación de Fase 2 completa.</a:t>
            </a:r>
            <a:endParaRPr sz="115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79" name="Google Shape;179;p25"/>
          <p:cNvGrpSpPr/>
          <p:nvPr/>
        </p:nvGrpSpPr>
        <p:grpSpPr>
          <a:xfrm>
            <a:off x="476250" y="1381125"/>
            <a:ext cx="3905400" cy="3048000"/>
            <a:chOff x="0" y="0"/>
            <a:chExt cx="3905400" cy="3048000"/>
          </a:xfrm>
        </p:grpSpPr>
        <p:sp>
          <p:nvSpPr>
            <p:cNvPr id="180" name="Google Shape;180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0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Producto: Épica 1</a:t>
              </a:r>
              <a:endParaRPr sz="1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952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lang="es" sz="1050" b="1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Backend:</a:t>
              </a:r>
              <a:r>
                <a:rPr lang="es" sz="105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login con JWT, 4 roles y gestión de usuarios.</a:t>
              </a:r>
              <a:endParaRPr sz="10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52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lang="es" sz="1050" b="1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Frontend:</a:t>
              </a:r>
              <a:r>
                <a:rPr lang="es" sz="105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React con sesión persistente y rutas protegidas.</a:t>
              </a:r>
              <a:endParaRPr sz="10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52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lang="es" sz="1050" b="1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Entorno:</a:t>
              </a:r>
              <a:r>
                <a:rPr lang="es" sz="105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sistema completo en Docker, con migraciones.</a:t>
              </a:r>
              <a:endParaRPr sz="10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3" name="Google Shape;183;p25"/>
          <p:cNvGrpSpPr/>
          <p:nvPr/>
        </p:nvGrpSpPr>
        <p:grpSpPr>
          <a:xfrm>
            <a:off x="4762500" y="1381125"/>
            <a:ext cx="3905400" cy="3048000"/>
            <a:chOff x="0" y="0"/>
            <a:chExt cx="3905400" cy="3048000"/>
          </a:xfrm>
        </p:grpSpPr>
        <p:sp>
          <p:nvSpPr>
            <p:cNvPr id="184" name="Google Shape;184;p25"/>
            <p:cNvSpPr/>
            <p:nvPr/>
          </p:nvSpPr>
          <p:spPr>
            <a:xfrm>
              <a:off x="0" y="0"/>
              <a:ext cx="3905400" cy="3048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5"/>
            <p:cNvSpPr/>
            <p:nvPr/>
          </p:nvSpPr>
          <p:spPr>
            <a:xfrm>
              <a:off x="0" y="0"/>
              <a:ext cx="57300" cy="3048000"/>
            </a:xfrm>
            <a:prstGeom prst="roundRect">
              <a:avLst>
                <a:gd name="adj" fmla="val 50000"/>
              </a:avLst>
            </a:prstGeom>
            <a:solidFill>
              <a:srgbClr val="0284C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5"/>
            <p:cNvSpPr txBox="1"/>
            <p:nvPr/>
          </p:nvSpPr>
          <p:spPr>
            <a:xfrm>
              <a:off x="238125" y="238125"/>
              <a:ext cx="3429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" sz="1400" b="1">
                  <a:solidFill>
                    <a:srgbClr val="0F172A"/>
                  </a:solidFill>
                  <a:latin typeface="Plus Jakarta Sans"/>
                  <a:ea typeface="Plus Jakarta Sans"/>
                  <a:cs typeface="Plus Jakarta Sans"/>
                  <a:sym typeface="Plus Jakarta Sans"/>
                </a:rPr>
                <a:t>Pruebas y documentación</a:t>
              </a:r>
              <a:endParaRPr sz="1400" b="1">
                <a:solidFill>
                  <a:srgbClr val="0F172A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  <a:p>
              <a:pPr marL="457200" lvl="0" indent="-2952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lang="es" sz="1050" b="1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Pruebas:</a:t>
              </a:r>
              <a:r>
                <a:rPr lang="es" sz="105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46 aprobadas (15 HTTP, 14 automáticas y 17 de QA).</a:t>
              </a:r>
              <a:endParaRPr sz="10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52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lang="es" sz="1050" b="1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Documentos:</a:t>
              </a:r>
              <a:r>
                <a:rPr lang="es" sz="105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Vision, Backlog, Sprint Backlog, DoD y Diseño.</a:t>
              </a:r>
              <a:endParaRPr sz="10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2952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050"/>
                <a:buFont typeface="Inter"/>
                <a:buChar char="●"/>
              </a:pPr>
              <a:r>
                <a:rPr lang="es" sz="1050" b="1">
                  <a:solidFill>
                    <a:srgbClr val="0284C7"/>
                  </a:solidFill>
                  <a:latin typeface="Inter"/>
                  <a:ea typeface="Inter"/>
                  <a:cs typeface="Inter"/>
                  <a:sym typeface="Inter"/>
                </a:rPr>
                <a:t>Siguiente paso:</a:t>
              </a:r>
              <a:r>
                <a:rPr lang="es" sz="1050" b="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E2 desde el 19/10, según la Carta Gantt.</a:t>
              </a:r>
              <a:endParaRPr sz="105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/>
          <p:nvPr/>
        </p:nvSpPr>
        <p:spPr>
          <a:xfrm>
            <a:off x="2880600" y="0"/>
            <a:ext cx="6263400" cy="51738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solidFill>
                <a:srgbClr val="4A86E8"/>
              </a:solidFill>
            </a:endParaRPr>
          </a:p>
        </p:txBody>
      </p:sp>
      <p:sp>
        <p:nvSpPr>
          <p:cNvPr id="193" name="Google Shape;193;p26"/>
          <p:cNvSpPr/>
          <p:nvPr/>
        </p:nvSpPr>
        <p:spPr>
          <a:xfrm>
            <a:off x="0" y="-22234"/>
            <a:ext cx="2880600" cy="5173800"/>
          </a:xfrm>
          <a:prstGeom prst="rect">
            <a:avLst/>
          </a:prstGeom>
          <a:solidFill>
            <a:srgbClr val="6D9EE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26"/>
          <p:cNvSpPr/>
          <p:nvPr/>
        </p:nvSpPr>
        <p:spPr>
          <a:xfrm>
            <a:off x="1843715" y="2331292"/>
            <a:ext cx="582900" cy="582900"/>
          </a:xfrm>
          <a:prstGeom prst="ellipse">
            <a:avLst/>
          </a:prstGeom>
          <a:solidFill>
            <a:srgbClr val="F2A73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26"/>
          <p:cNvSpPr txBox="1"/>
          <p:nvPr/>
        </p:nvSpPr>
        <p:spPr>
          <a:xfrm>
            <a:off x="3125546" y="1802550"/>
            <a:ext cx="19587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mbria"/>
              <a:buNone/>
            </a:pPr>
            <a:r>
              <a:rPr lang="es" sz="3600" b="1" i="0" u="none" strike="noStrike" cap="non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Gracias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6"/>
          <p:cNvSpPr txBox="1"/>
          <p:nvPr/>
        </p:nvSpPr>
        <p:spPr>
          <a:xfrm>
            <a:off x="1785569" y="2451295"/>
            <a:ext cx="65151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FBF9F"/>
              </a:buClr>
              <a:buSzPts val="1200"/>
              <a:buFont typeface="Calibri"/>
              <a:buNone/>
            </a:pPr>
            <a:r>
              <a:rPr lang="es" sz="1200" b="0" i="1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A2D_SM — Sistema de Trazabilidad para Planta Procesadora de Fruta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73550" y="4100100"/>
            <a:ext cx="2550000" cy="58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457200" marR="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s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Alejandro Rodríguez 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s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Diego Carrillo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s"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Angelo Galindo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8" name="Google Shape;198;p26" descr="http://www.duoc.cl/normasgraficas/normasgraficas/marca-duoc/6logo-fondo-transparente/fondo-transparent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6525" y="205225"/>
            <a:ext cx="2000250" cy="42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677</Words>
  <Application>Microsoft Office PowerPoint</Application>
  <PresentationFormat>Presentación en pantalla (16:9)</PresentationFormat>
  <Paragraphs>121</Paragraphs>
  <Slides>8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8</vt:i4>
      </vt:variant>
    </vt:vector>
  </HeadingPairs>
  <TitlesOfParts>
    <vt:vector size="19" baseType="lpstr">
      <vt:lpstr>Inter Medium</vt:lpstr>
      <vt:lpstr>Plus Jakarta Sans Medium</vt:lpstr>
      <vt:lpstr>Inter SemiBold</vt:lpstr>
      <vt:lpstr>Plus Jakarta Sans</vt:lpstr>
      <vt:lpstr>Calibri</vt:lpstr>
      <vt:lpstr>Inter</vt:lpstr>
      <vt:lpstr>Cambria</vt:lpstr>
      <vt:lpstr>Plus Jakarta Sans ExtraBold</vt:lpstr>
      <vt:lpstr>Arial</vt:lpstr>
      <vt:lpstr>Simple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Plan de trabajo y avance</vt:lpstr>
      <vt:lpstr>Avance a la fecha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Angelo Stephano Galindo Painequir</cp:lastModifiedBy>
  <cp:revision>1</cp:revision>
  <dcterms:modified xsi:type="dcterms:W3CDTF">2026-10-17T23:34:52Z</dcterms:modified>
</cp:coreProperties>
</file>